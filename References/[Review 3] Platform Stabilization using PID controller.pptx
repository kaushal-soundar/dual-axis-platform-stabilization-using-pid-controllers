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ibre Baskerville Bold" charset="1" panose="02000000000000000000"/>
      <p:regular r:id="rId18"/>
    </p:embeddedFont>
    <p:embeddedFont>
      <p:font typeface="Libre Baskerville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08652" y="-793466"/>
            <a:ext cx="1650648" cy="3086100"/>
            <a:chOff x="0" y="0"/>
            <a:chExt cx="43473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4738" cy="812800"/>
            </a:xfrm>
            <a:custGeom>
              <a:avLst/>
              <a:gdLst/>
              <a:ahLst/>
              <a:cxnLst/>
              <a:rect r="r" b="b" t="t" l="l"/>
              <a:pathLst>
                <a:path h="812800" w="434738">
                  <a:moveTo>
                    <a:pt x="0" y="0"/>
                  </a:moveTo>
                  <a:lnTo>
                    <a:pt x="434738" y="0"/>
                  </a:lnTo>
                  <a:lnTo>
                    <a:pt x="4347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473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7206" y="2528458"/>
            <a:ext cx="15553588" cy="363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Platform Stabilization using PID Controller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18489" y="7492240"/>
            <a:ext cx="11851023" cy="176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Ashwin S - CB.EN.U4ECE23106</a:t>
            </a:r>
          </a:p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Kaushal Soundararajan - CB.EN.U4ECE23125</a:t>
            </a:r>
          </a:p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450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Nidhil Remila Shivakumaran - CB.EN.U4ECE23129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88454" y="1719322"/>
            <a:ext cx="14111093" cy="8184434"/>
          </a:xfrm>
          <a:custGeom>
            <a:avLst/>
            <a:gdLst/>
            <a:ahLst/>
            <a:cxnLst/>
            <a:rect r="r" b="b" t="t" l="l"/>
            <a:pathLst>
              <a:path h="8184434" w="14111093">
                <a:moveTo>
                  <a:pt x="0" y="0"/>
                </a:moveTo>
                <a:lnTo>
                  <a:pt x="14111092" y="0"/>
                </a:lnTo>
                <a:lnTo>
                  <a:pt x="14111092" y="8184434"/>
                </a:lnTo>
                <a:lnTo>
                  <a:pt x="0" y="8184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480" y="428942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Block 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2844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11790" y="228544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Circuit Diagram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39133" y="1514158"/>
            <a:ext cx="16628814" cy="8272835"/>
          </a:xfrm>
          <a:custGeom>
            <a:avLst/>
            <a:gdLst/>
            <a:ahLst/>
            <a:cxnLst/>
            <a:rect r="r" b="b" t="t" l="l"/>
            <a:pathLst>
              <a:path h="8272835" w="16628814">
                <a:moveTo>
                  <a:pt x="0" y="0"/>
                </a:moveTo>
                <a:lnTo>
                  <a:pt x="16628814" y="0"/>
                </a:lnTo>
                <a:lnTo>
                  <a:pt x="16628814" y="8272834"/>
                </a:lnTo>
                <a:lnTo>
                  <a:pt x="0" y="8272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2844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47461" y="1579883"/>
            <a:ext cx="9745836" cy="8536088"/>
          </a:xfrm>
          <a:custGeom>
            <a:avLst/>
            <a:gdLst/>
            <a:ahLst/>
            <a:cxnLst/>
            <a:rect r="r" b="b" t="t" l="l"/>
            <a:pathLst>
              <a:path h="8536088" w="9745836">
                <a:moveTo>
                  <a:pt x="0" y="0"/>
                </a:moveTo>
                <a:lnTo>
                  <a:pt x="9745836" y="0"/>
                </a:lnTo>
                <a:lnTo>
                  <a:pt x="9745836" y="8536087"/>
                </a:lnTo>
                <a:lnTo>
                  <a:pt x="0" y="853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439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11790" y="228544"/>
            <a:ext cx="1060704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Circuit Diagram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3970" y="1688862"/>
            <a:ext cx="6743283" cy="415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782" spc="416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Motor Driver:</a:t>
            </a:r>
          </a:p>
          <a:p>
            <a:pPr algn="l" marL="535935" indent="-267967" lvl="1">
              <a:lnSpc>
                <a:spcPts val="3475"/>
              </a:lnSpc>
              <a:buFont typeface="Arial"/>
              <a:buChar char="•"/>
            </a:pPr>
            <a:r>
              <a:rPr lang="en-US" sz="2482" spc="273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 astable multivibrator is used in connection with a comparator to generate a PWM signal.</a:t>
            </a:r>
          </a:p>
          <a:p>
            <a:pPr algn="l" marL="535935" indent="-267967" lvl="1">
              <a:lnSpc>
                <a:spcPts val="3475"/>
              </a:lnSpc>
              <a:buFont typeface="Arial"/>
              <a:buChar char="•"/>
            </a:pPr>
            <a:r>
              <a:rPr lang="en-US" sz="2482" spc="273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PWM output is then connected to a L293D Motor Driver IC which will control the DC motor.</a:t>
            </a:r>
          </a:p>
        </p:txBody>
      </p:sp>
      <p:sp>
        <p:nvSpPr>
          <p:cNvPr name="AutoShape 8" id="8"/>
          <p:cNvSpPr/>
          <p:nvPr/>
        </p:nvSpPr>
        <p:spPr>
          <a:xfrm>
            <a:off x="8035460" y="1774587"/>
            <a:ext cx="6202816" cy="0"/>
          </a:xfrm>
          <a:prstGeom prst="line">
            <a:avLst/>
          </a:prstGeom>
          <a:ln cap="flat" w="38100">
            <a:solidFill>
              <a:srgbClr val="C71A2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054510" y="8674668"/>
            <a:ext cx="6202816" cy="0"/>
          </a:xfrm>
          <a:prstGeom prst="line">
            <a:avLst/>
          </a:prstGeom>
          <a:ln cap="flat" w="38100">
            <a:solidFill>
              <a:srgbClr val="C71A2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4257326" y="1755537"/>
            <a:ext cx="0" cy="6919131"/>
          </a:xfrm>
          <a:prstGeom prst="line">
            <a:avLst/>
          </a:prstGeom>
          <a:ln cap="flat" w="38100">
            <a:solidFill>
              <a:srgbClr val="C71A2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8054510" y="1755537"/>
            <a:ext cx="0" cy="6919131"/>
          </a:xfrm>
          <a:prstGeom prst="line">
            <a:avLst/>
          </a:prstGeom>
          <a:ln cap="flat" w="38100">
            <a:solidFill>
              <a:srgbClr val="C71A2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189272" y="7211515"/>
            <a:ext cx="3421562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24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Astable Multivibrator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4415392" y="1717437"/>
            <a:ext cx="3080078" cy="19050"/>
          </a:xfrm>
          <a:prstGeom prst="line">
            <a:avLst/>
          </a:prstGeom>
          <a:ln cap="flat" w="38100">
            <a:solidFill>
              <a:srgbClr val="5E17E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14396342" y="1717437"/>
            <a:ext cx="19050" cy="3773032"/>
          </a:xfrm>
          <a:prstGeom prst="line">
            <a:avLst/>
          </a:prstGeom>
          <a:ln cap="flat" w="38100">
            <a:solidFill>
              <a:srgbClr val="5E17E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7495470" y="1717437"/>
            <a:ext cx="0" cy="3773032"/>
          </a:xfrm>
          <a:prstGeom prst="line">
            <a:avLst/>
          </a:prstGeom>
          <a:ln cap="flat" w="38100">
            <a:solidFill>
              <a:srgbClr val="5E17E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4415510" y="5480945"/>
            <a:ext cx="3095684" cy="9525"/>
          </a:xfrm>
          <a:prstGeom prst="line">
            <a:avLst/>
          </a:prstGeom>
          <a:ln cap="flat" w="38100">
            <a:solidFill>
              <a:srgbClr val="5E17E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5066951" y="5642504"/>
            <a:ext cx="206806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241">
                <a:solidFill>
                  <a:srgbClr val="06131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Comparator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76452" y="2292634"/>
            <a:ext cx="10263992" cy="7480174"/>
          </a:xfrm>
          <a:custGeom>
            <a:avLst/>
            <a:gdLst/>
            <a:ahLst/>
            <a:cxnLst/>
            <a:rect r="r" b="b" t="t" l="l"/>
            <a:pathLst>
              <a:path h="7480174" w="10263992">
                <a:moveTo>
                  <a:pt x="0" y="0"/>
                </a:moveTo>
                <a:lnTo>
                  <a:pt x="10263991" y="0"/>
                </a:lnTo>
                <a:lnTo>
                  <a:pt x="10263991" y="7480174"/>
                </a:lnTo>
                <a:lnTo>
                  <a:pt x="0" y="7480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34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1837" y="428942"/>
            <a:ext cx="1000487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spc="70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Sensor Calibration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665" y="2235484"/>
            <a:ext cx="7419943" cy="741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715" indent="-301857" lvl="1">
              <a:lnSpc>
                <a:spcPts val="3914"/>
              </a:lnSpc>
              <a:buFont typeface="Arial"/>
              <a:buChar char="•"/>
            </a:pPr>
            <a:r>
              <a:rPr lang="en-US" sz="2796" spc="30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Sensor consists of a potentiometer connected to a weight at its shaft.</a:t>
            </a:r>
          </a:p>
          <a:p>
            <a:pPr algn="l" marL="603715" indent="-301857" lvl="1">
              <a:lnSpc>
                <a:spcPts val="3914"/>
              </a:lnSpc>
              <a:buFont typeface="Arial"/>
              <a:buChar char="•"/>
            </a:pPr>
            <a:r>
              <a:rPr lang="en-US" sz="2796" spc="30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calibration is done by keeping the potentiometer at a fixed position and moving the weight connected to it by 10 degrees.</a:t>
            </a:r>
          </a:p>
          <a:p>
            <a:pPr algn="l" marL="603715" indent="-301857" lvl="1">
              <a:lnSpc>
                <a:spcPts val="3914"/>
              </a:lnSpc>
              <a:buFont typeface="Arial"/>
              <a:buChar char="•"/>
            </a:pPr>
            <a:r>
              <a:rPr lang="en-US" sz="2796" spc="30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resistance shown by the potentiometer at each 10 degree intervals is recorded using a multimeter.</a:t>
            </a:r>
          </a:p>
          <a:p>
            <a:pPr algn="l" marL="603715" indent="-301857" lvl="1">
              <a:lnSpc>
                <a:spcPts val="3914"/>
              </a:lnSpc>
              <a:buFont typeface="Arial"/>
              <a:buChar char="•"/>
            </a:pPr>
            <a:r>
              <a:rPr lang="en-US" sz="2796" spc="30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paper below is marked at 10 degree intervals to rotate the weight.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3824" y="2426178"/>
            <a:ext cx="6782102" cy="7537417"/>
          </a:xfrm>
          <a:custGeom>
            <a:avLst/>
            <a:gdLst/>
            <a:ahLst/>
            <a:cxnLst/>
            <a:rect r="r" b="b" t="t" l="l"/>
            <a:pathLst>
              <a:path h="7537417" w="6782102">
                <a:moveTo>
                  <a:pt x="0" y="0"/>
                </a:moveTo>
                <a:lnTo>
                  <a:pt x="6782101" y="0"/>
                </a:lnTo>
                <a:lnTo>
                  <a:pt x="6782101" y="7537416"/>
                </a:lnTo>
                <a:lnTo>
                  <a:pt x="0" y="753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71998" y="2426178"/>
            <a:ext cx="10414393" cy="7537417"/>
          </a:xfrm>
          <a:custGeom>
            <a:avLst/>
            <a:gdLst/>
            <a:ahLst/>
            <a:cxnLst/>
            <a:rect r="r" b="b" t="t" l="l"/>
            <a:pathLst>
              <a:path h="7537417" w="10414393">
                <a:moveTo>
                  <a:pt x="0" y="0"/>
                </a:moveTo>
                <a:lnTo>
                  <a:pt x="10414393" y="0"/>
                </a:lnTo>
                <a:lnTo>
                  <a:pt x="10414393" y="7537416"/>
                </a:lnTo>
                <a:lnTo>
                  <a:pt x="0" y="75374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61837" y="428942"/>
            <a:ext cx="1000487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spc="70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Sensor Calibration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824" y="1770249"/>
            <a:ext cx="8138481" cy="36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168" spc="23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Two sensors are used for dual-axis stabilization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8928" y="3256851"/>
            <a:ext cx="8381654" cy="5363227"/>
          </a:xfrm>
          <a:custGeom>
            <a:avLst/>
            <a:gdLst/>
            <a:ahLst/>
            <a:cxnLst/>
            <a:rect r="r" b="b" t="t" l="l"/>
            <a:pathLst>
              <a:path h="5363227" w="8381654">
                <a:moveTo>
                  <a:pt x="0" y="0"/>
                </a:moveTo>
                <a:lnTo>
                  <a:pt x="8381654" y="0"/>
                </a:lnTo>
                <a:lnTo>
                  <a:pt x="8381654" y="5363227"/>
                </a:lnTo>
                <a:lnTo>
                  <a:pt x="0" y="5363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38" r="-22980" b="-146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37912" y="3256851"/>
            <a:ext cx="8379102" cy="5363227"/>
          </a:xfrm>
          <a:custGeom>
            <a:avLst/>
            <a:gdLst/>
            <a:ahLst/>
            <a:cxnLst/>
            <a:rect r="r" b="b" t="t" l="l"/>
            <a:pathLst>
              <a:path h="5363227" w="8379102">
                <a:moveTo>
                  <a:pt x="0" y="0"/>
                </a:moveTo>
                <a:lnTo>
                  <a:pt x="8379101" y="0"/>
                </a:lnTo>
                <a:lnTo>
                  <a:pt x="8379101" y="5363227"/>
                </a:lnTo>
                <a:lnTo>
                  <a:pt x="0" y="536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529" r="-21303" b="-13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3336" y="428942"/>
            <a:ext cx="411099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70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Outputs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928" y="2444409"/>
            <a:ext cx="39055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Proportional: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7912" y="2444409"/>
            <a:ext cx="39055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Integrator: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8928" y="3256851"/>
            <a:ext cx="8565072" cy="5369139"/>
          </a:xfrm>
          <a:custGeom>
            <a:avLst/>
            <a:gdLst/>
            <a:ahLst/>
            <a:cxnLst/>
            <a:rect r="r" b="b" t="t" l="l"/>
            <a:pathLst>
              <a:path h="5369139" w="8565072">
                <a:moveTo>
                  <a:pt x="0" y="0"/>
                </a:moveTo>
                <a:lnTo>
                  <a:pt x="8565072" y="0"/>
                </a:lnTo>
                <a:lnTo>
                  <a:pt x="8565072" y="5369139"/>
                </a:lnTo>
                <a:lnTo>
                  <a:pt x="0" y="5369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20" r="-21894" b="-1644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85541" y="3256851"/>
            <a:ext cx="8388338" cy="5369139"/>
          </a:xfrm>
          <a:custGeom>
            <a:avLst/>
            <a:gdLst/>
            <a:ahLst/>
            <a:cxnLst/>
            <a:rect r="r" b="b" t="t" l="l"/>
            <a:pathLst>
              <a:path h="5369139" w="8388338">
                <a:moveTo>
                  <a:pt x="0" y="0"/>
                </a:moveTo>
                <a:lnTo>
                  <a:pt x="8388339" y="0"/>
                </a:lnTo>
                <a:lnTo>
                  <a:pt x="8388339" y="5369139"/>
                </a:lnTo>
                <a:lnTo>
                  <a:pt x="0" y="5369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38" r="-21303" b="-1351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3336" y="428942"/>
            <a:ext cx="411099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70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Outputs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928" y="2444409"/>
            <a:ext cx="4551243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Differentiator: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0056" y="2444409"/>
            <a:ext cx="39055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PID: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0303" y="3233090"/>
            <a:ext cx="8993021" cy="5702787"/>
          </a:xfrm>
          <a:custGeom>
            <a:avLst/>
            <a:gdLst/>
            <a:ahLst/>
            <a:cxnLst/>
            <a:rect r="r" b="b" t="t" l="l"/>
            <a:pathLst>
              <a:path h="5702787" w="8993021">
                <a:moveTo>
                  <a:pt x="0" y="0"/>
                </a:moveTo>
                <a:lnTo>
                  <a:pt x="8993021" y="0"/>
                </a:lnTo>
                <a:lnTo>
                  <a:pt x="8993021" y="5702787"/>
                </a:lnTo>
                <a:lnTo>
                  <a:pt x="0" y="570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96" r="-21863" b="-1523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3336" y="428942"/>
            <a:ext cx="411099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70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Outputs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89862" y="2444409"/>
            <a:ext cx="4551243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PWM: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9314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81000" y="1514158"/>
          <a:ext cx="17526000" cy="8608479"/>
        </p:xfrm>
        <a:graphic>
          <a:graphicData uri="http://schemas.openxmlformats.org/drawingml/2006/table">
            <a:tbl>
              <a:tblPr/>
              <a:tblGrid>
                <a:gridCol w="2122839"/>
                <a:gridCol w="4405034"/>
                <a:gridCol w="5041345"/>
                <a:gridCol w="2771265"/>
                <a:gridCol w="3185516"/>
              </a:tblGrid>
              <a:tr h="1293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Lab/Store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471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TL084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(Quad Op-amp)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6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LM311(Comparator)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71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3.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Resistors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5, 2, 10, 2, 3, 1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1k, 1.5k, 10k, 51k, 100k, 510k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6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4.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Capacitors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2, 1, 1, 1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0.1μF, 0.33μF, 0.47μF, 1μF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65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5.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Potentiometer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47k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71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6.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CA3046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(NPN Transistor Array)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β=100, VBE=0.6V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411239" y="155014"/>
            <a:ext cx="644785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70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Components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43242"/>
            <a:ext cx="3008659" cy="970915"/>
            <a:chOff x="0" y="0"/>
            <a:chExt cx="792404" cy="255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2404" cy="255714"/>
            </a:xfrm>
            <a:custGeom>
              <a:avLst/>
              <a:gdLst/>
              <a:ahLst/>
              <a:cxnLst/>
              <a:rect r="r" b="b" t="t" l="l"/>
              <a:pathLst>
                <a:path h="255714" w="792404">
                  <a:moveTo>
                    <a:pt x="0" y="0"/>
                  </a:moveTo>
                  <a:lnTo>
                    <a:pt x="792404" y="0"/>
                  </a:lnTo>
                  <a:lnTo>
                    <a:pt x="792404" y="255714"/>
                  </a:lnTo>
                  <a:lnTo>
                    <a:pt x="0" y="255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2404" cy="293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04800" y="1678515"/>
          <a:ext cx="17678400" cy="8221426"/>
        </p:xfrm>
        <a:graphic>
          <a:graphicData uri="http://schemas.openxmlformats.org/drawingml/2006/table">
            <a:tbl>
              <a:tblPr/>
              <a:tblGrid>
                <a:gridCol w="2122008"/>
                <a:gridCol w="3663730"/>
                <a:gridCol w="5778949"/>
                <a:gridCol w="2770180"/>
                <a:gridCol w="3343533"/>
              </a:tblGrid>
              <a:tr h="19194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Lab/</a:t>
                      </a:r>
                      <a:endParaRPr lang="en-US" sz="1100"/>
                    </a:p>
                    <a:p>
                      <a:pPr algn="ctr">
                        <a:lnSpc>
                          <a:spcPts val="4899"/>
                        </a:lnSpc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Store(Price)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443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7.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L239D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(Motor Driver IC)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0231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8.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Connecting Wires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As 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48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9.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Breadboard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43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10.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Bourns 3590S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Potentiometer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10k, 10-Fold Potentiometer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Store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(145/piece)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443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11.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DC Motor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12V, Torque 12 Kg.cm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Store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(180/piece)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466024" y="428942"/>
            <a:ext cx="644785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70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Components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08652" y="-793466"/>
            <a:ext cx="1650648" cy="3086100"/>
            <a:chOff x="0" y="0"/>
            <a:chExt cx="43473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4738" cy="812800"/>
            </a:xfrm>
            <a:custGeom>
              <a:avLst/>
              <a:gdLst/>
              <a:ahLst/>
              <a:cxnLst/>
              <a:rect r="r" b="b" t="t" l="l"/>
              <a:pathLst>
                <a:path h="812800" w="434738">
                  <a:moveTo>
                    <a:pt x="0" y="0"/>
                  </a:moveTo>
                  <a:lnTo>
                    <a:pt x="434738" y="0"/>
                  </a:lnTo>
                  <a:lnTo>
                    <a:pt x="4347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473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0480" y="3818624"/>
            <a:ext cx="10607040" cy="17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true">
                <a:solidFill>
                  <a:srgbClr val="061313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DAG7GIQqGUs</dc:identifier>
  <dcterms:modified xsi:type="dcterms:W3CDTF">2011-08-01T06:04:30Z</dcterms:modified>
  <cp:revision>1</cp:revision>
  <dc:title>Open Lab 2 - Review 1</dc:title>
</cp:coreProperties>
</file>