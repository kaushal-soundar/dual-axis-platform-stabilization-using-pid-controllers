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mo" panose="020B0604020202020204" charset="0"/>
      <p:regular r:id="rId11"/>
    </p:embeddedFont>
    <p:embeddedFont>
      <p:font typeface="Arimo Bold" panose="020B0604020202020204" charset="0"/>
      <p:regular r:id="rId12"/>
    </p:embeddedFont>
    <p:embeddedFont>
      <p:font typeface="Libre Baskerville" panose="020F0502020204030204" pitchFamily="2" charset="0"/>
      <p:regular r:id="rId13"/>
    </p:embeddedFont>
    <p:embeddedFont>
      <p:font typeface="Libre Baskerville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search/cs?searchtype=author&amp;query=Raju,+K+V+M" TargetMode="External"/><Relationship Id="rId2" Type="http://schemas.openxmlformats.org/officeDocument/2006/relationships/hyperlink" Target="https://arxiv.org/search/cs?searchtype=author&amp;query=Suresh,+A" TargetMode="External"/><Relationship Id="rId1" Type="http://schemas.openxmlformats.org/officeDocument/2006/relationships/slideLayout" Target="../slideLayouts/slideLayout7.xml"/><Relationship Id="rId6" Type="http://schemas.openxmlformats.org/officeDocument/2006/relationships/hyperlink" Target="https://www.researchgate.net/scientific-contributions/Saket-Sehgal-2177869747?_tp=eyJjb250ZXh0Ijp7ImZpcnN0UGFnZSI6InB1YmxpY2F0aW9uIiwicGFnZSI6InB1YmxpY2F0aW9uIn19" TargetMode="External"/><Relationship Id="rId5" Type="http://schemas.openxmlformats.org/officeDocument/2006/relationships/hyperlink" Target="https://www.researchgate.net/profile/Karabi-Biswas-2?_tp=eyJjb250ZXh0Ijp7ImZpcnN0UGFnZSI6InB1YmxpY2F0aW9uIiwicGFnZSI6InB1YmxpY2F0aW9uIn19" TargetMode="External"/><Relationship Id="rId4" Type="http://schemas.openxmlformats.org/officeDocument/2006/relationships/hyperlink" Target="https://www.researchgate.net/profile/Dina-John-2?_tp=eyJjb250ZXh0Ijp7ImZpcnN0UGFnZSI6InB1YmxpY2F0aW9uIiwicGFnZSI6InB1YmxpY2F0aW9uIn1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15608652" y="-793466"/>
            <a:ext cx="1650648" cy="3086100"/>
            <a:chOff x="0" y="0"/>
            <a:chExt cx="434738" cy="812800"/>
          </a:xfrm>
        </p:grpSpPr>
        <p:sp>
          <p:nvSpPr>
            <p:cNvPr id="3" name="Freeform 3"/>
            <p:cNvSpPr/>
            <p:nvPr/>
          </p:nvSpPr>
          <p:spPr>
            <a:xfrm>
              <a:off x="0" y="0"/>
              <a:ext cx="434738" cy="812800"/>
            </a:xfrm>
            <a:custGeom>
              <a:avLst/>
              <a:gdLst/>
              <a:ahLst/>
              <a:cxnLst/>
              <a:rect l="l" t="t" r="r" b="b"/>
              <a:pathLst>
                <a:path w="434738" h="812800">
                  <a:moveTo>
                    <a:pt x="0" y="0"/>
                  </a:moveTo>
                  <a:lnTo>
                    <a:pt x="434738" y="0"/>
                  </a:lnTo>
                  <a:lnTo>
                    <a:pt x="434738" y="812800"/>
                  </a:lnTo>
                  <a:lnTo>
                    <a:pt x="0" y="812800"/>
                  </a:lnTo>
                  <a:close/>
                </a:path>
              </a:pathLst>
            </a:custGeom>
            <a:solidFill>
              <a:srgbClr val="FFFFFF"/>
            </a:solidFill>
          </p:spPr>
        </p:sp>
        <p:sp>
          <p:nvSpPr>
            <p:cNvPr id="4" name="TextBox 4"/>
            <p:cNvSpPr txBox="1"/>
            <p:nvPr/>
          </p:nvSpPr>
          <p:spPr>
            <a:xfrm>
              <a:off x="0" y="-38100"/>
              <a:ext cx="434738" cy="850900"/>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1367206" y="2528458"/>
            <a:ext cx="15553588" cy="3631564"/>
          </a:xfrm>
          <a:prstGeom prst="rect">
            <a:avLst/>
          </a:prstGeom>
        </p:spPr>
        <p:txBody>
          <a:bodyPr lIns="0" tIns="0" rIns="0" bIns="0" rtlCol="0" anchor="t">
            <a:spAutoFit/>
          </a:bodyPr>
          <a:lstStyle/>
          <a:p>
            <a:pPr algn="l">
              <a:lnSpc>
                <a:spcPts val="14560"/>
              </a:lnSpc>
              <a:spcBef>
                <a:spcPct val="0"/>
              </a:spcBef>
            </a:pPr>
            <a:r>
              <a:rPr lang="en-US" sz="10400" b="1" dirty="0">
                <a:solidFill>
                  <a:srgbClr val="061313"/>
                </a:solidFill>
                <a:latin typeface="Libre Baskerville Bold"/>
                <a:ea typeface="Libre Baskerville Bold"/>
                <a:cs typeface="Libre Baskerville Bold"/>
                <a:sym typeface="Libre Baskerville Bold"/>
              </a:rPr>
              <a:t>Platform Stabilizer using PID Controller</a:t>
            </a:r>
          </a:p>
        </p:txBody>
      </p:sp>
      <p:sp>
        <p:nvSpPr>
          <p:cNvPr id="6" name="TextBox 6"/>
          <p:cNvSpPr txBox="1"/>
          <p:nvPr/>
        </p:nvSpPr>
        <p:spPr>
          <a:xfrm>
            <a:off x="3218489" y="7492240"/>
            <a:ext cx="11851023" cy="1766060"/>
          </a:xfrm>
          <a:prstGeom prst="rect">
            <a:avLst/>
          </a:prstGeom>
        </p:spPr>
        <p:txBody>
          <a:bodyPr lIns="0" tIns="0" rIns="0" bIns="0" rtlCol="0" anchor="t">
            <a:spAutoFit/>
          </a:bodyPr>
          <a:lstStyle/>
          <a:p>
            <a:pPr algn="l">
              <a:lnSpc>
                <a:spcPts val="4830"/>
              </a:lnSpc>
            </a:pPr>
            <a:r>
              <a:rPr lang="en-US" sz="3450">
                <a:solidFill>
                  <a:srgbClr val="061313"/>
                </a:solidFill>
                <a:latin typeface="Libre Baskerville"/>
                <a:ea typeface="Libre Baskerville"/>
                <a:cs typeface="Libre Baskerville"/>
                <a:sym typeface="Libre Baskerville"/>
              </a:rPr>
              <a:t>Ashwin S - CB.EN.U4ECE23106</a:t>
            </a:r>
          </a:p>
          <a:p>
            <a:pPr algn="l">
              <a:lnSpc>
                <a:spcPts val="4830"/>
              </a:lnSpc>
            </a:pPr>
            <a:r>
              <a:rPr lang="en-US" sz="3450">
                <a:solidFill>
                  <a:srgbClr val="061313"/>
                </a:solidFill>
                <a:latin typeface="Libre Baskerville"/>
                <a:ea typeface="Libre Baskerville"/>
                <a:cs typeface="Libre Baskerville"/>
                <a:sym typeface="Libre Baskerville"/>
              </a:rPr>
              <a:t>Kaushal Soundararajan - CB.EN.U4ECE23125</a:t>
            </a:r>
          </a:p>
          <a:p>
            <a:pPr marL="0" lvl="0" indent="0" algn="l">
              <a:lnSpc>
                <a:spcPts val="4830"/>
              </a:lnSpc>
              <a:spcBef>
                <a:spcPct val="0"/>
              </a:spcBef>
            </a:pPr>
            <a:r>
              <a:rPr lang="en-US" sz="3450">
                <a:solidFill>
                  <a:srgbClr val="061313"/>
                </a:solidFill>
                <a:latin typeface="Libre Baskerville"/>
                <a:ea typeface="Libre Baskerville"/>
                <a:cs typeface="Libre Baskerville"/>
                <a:sym typeface="Libre Baskerville"/>
              </a:rPr>
              <a:t>Nidhil Remila Shivakumaran - CB.EN.U4ECE23129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3458836" y="2023163"/>
            <a:ext cx="763288" cy="76328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5" name="Group 5"/>
          <p:cNvGrpSpPr/>
          <p:nvPr/>
        </p:nvGrpSpPr>
        <p:grpSpPr>
          <a:xfrm>
            <a:off x="3458836" y="4761856"/>
            <a:ext cx="763288" cy="76328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8" name="Group 8"/>
          <p:cNvGrpSpPr/>
          <p:nvPr/>
        </p:nvGrpSpPr>
        <p:grpSpPr>
          <a:xfrm>
            <a:off x="0" y="543242"/>
            <a:ext cx="3008659" cy="970915"/>
            <a:chOff x="0" y="0"/>
            <a:chExt cx="792404" cy="255714"/>
          </a:xfrm>
        </p:grpSpPr>
        <p:sp>
          <p:nvSpPr>
            <p:cNvPr id="9" name="Freeform 9"/>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10" name="TextBox 10"/>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3458836" y="2966076"/>
            <a:ext cx="14063113" cy="1471930"/>
          </a:xfrm>
          <a:prstGeom prst="rect">
            <a:avLst/>
          </a:prstGeom>
        </p:spPr>
        <p:txBody>
          <a:bodyPr lIns="0" tIns="0" rIns="0" bIns="0" rtlCol="0" anchor="t">
            <a:spAutoFit/>
          </a:bodyPr>
          <a:lstStyle/>
          <a:p>
            <a:pPr algn="l">
              <a:lnSpc>
                <a:spcPts val="3919"/>
              </a:lnSpc>
            </a:pPr>
            <a:r>
              <a:rPr lang="en-US" sz="2799" u="none" strike="noStrike">
                <a:solidFill>
                  <a:srgbClr val="061313"/>
                </a:solidFill>
                <a:latin typeface="Libre Baskerville"/>
                <a:ea typeface="Libre Baskerville"/>
                <a:cs typeface="Libre Baskerville"/>
                <a:sym typeface="Libre Baskerville"/>
              </a:rPr>
              <a:t>To design and implement a platform stabilization system using a PID controller to maintain the platform’s desired orientation despite external disturbances.</a:t>
            </a:r>
          </a:p>
        </p:txBody>
      </p:sp>
      <p:sp>
        <p:nvSpPr>
          <p:cNvPr id="12" name="TextBox 12"/>
          <p:cNvSpPr txBox="1"/>
          <p:nvPr/>
        </p:nvSpPr>
        <p:spPr>
          <a:xfrm>
            <a:off x="3458836" y="5792551"/>
            <a:ext cx="13630420" cy="2462530"/>
          </a:xfrm>
          <a:prstGeom prst="rect">
            <a:avLst/>
          </a:prstGeom>
        </p:spPr>
        <p:txBody>
          <a:bodyPr lIns="0" tIns="0" rIns="0" bIns="0" rtlCol="0" anchor="t">
            <a:spAutoFit/>
          </a:bodyPr>
          <a:lstStyle/>
          <a:p>
            <a:pPr algn="l">
              <a:lnSpc>
                <a:spcPts val="3919"/>
              </a:lnSpc>
            </a:pPr>
            <a:r>
              <a:rPr lang="en-US" sz="2799">
                <a:solidFill>
                  <a:srgbClr val="061313"/>
                </a:solidFill>
                <a:latin typeface="Libre Baskerville"/>
                <a:ea typeface="Libre Baskerville"/>
                <a:cs typeface="Libre Baskerville"/>
                <a:sym typeface="Libre Baskerville"/>
              </a:rPr>
              <a:t>To design a pendulum based mechanical sensor with connection to a potentiometer to provide real time tilt measurements of the platform. This sensor will generate a signal proportional to the platform’s deviation from desired orientation, which will be used as the input to the PID controller.</a:t>
            </a:r>
          </a:p>
        </p:txBody>
      </p:sp>
      <p:sp>
        <p:nvSpPr>
          <p:cNvPr id="13" name="TextBox 13"/>
          <p:cNvSpPr txBox="1"/>
          <p:nvPr/>
        </p:nvSpPr>
        <p:spPr>
          <a:xfrm>
            <a:off x="3458836" y="2187638"/>
            <a:ext cx="763288" cy="396240"/>
          </a:xfrm>
          <a:prstGeom prst="rect">
            <a:avLst/>
          </a:prstGeom>
        </p:spPr>
        <p:txBody>
          <a:bodyPr lIns="0" tIns="0" rIns="0" bIns="0" rtlCol="0" anchor="t">
            <a:spAutoFit/>
          </a:bodyPr>
          <a:lstStyle/>
          <a:p>
            <a:pPr algn="ctr">
              <a:lnSpc>
                <a:spcPts val="3359"/>
              </a:lnSpc>
            </a:pPr>
            <a:r>
              <a:rPr lang="en-US" sz="2400" b="1">
                <a:solidFill>
                  <a:srgbClr val="061313"/>
                </a:solidFill>
                <a:latin typeface="Libre Baskerville Bold"/>
                <a:ea typeface="Libre Baskerville Bold"/>
                <a:cs typeface="Libre Baskerville Bold"/>
                <a:sym typeface="Libre Baskerville Bold"/>
              </a:rPr>
              <a:t>1</a:t>
            </a:r>
          </a:p>
        </p:txBody>
      </p:sp>
      <p:sp>
        <p:nvSpPr>
          <p:cNvPr id="14" name="TextBox 14"/>
          <p:cNvSpPr txBox="1"/>
          <p:nvPr/>
        </p:nvSpPr>
        <p:spPr>
          <a:xfrm>
            <a:off x="3458836" y="4926330"/>
            <a:ext cx="763288" cy="396240"/>
          </a:xfrm>
          <a:prstGeom prst="rect">
            <a:avLst/>
          </a:prstGeom>
        </p:spPr>
        <p:txBody>
          <a:bodyPr lIns="0" tIns="0" rIns="0" bIns="0" rtlCol="0" anchor="t">
            <a:spAutoFit/>
          </a:bodyPr>
          <a:lstStyle/>
          <a:p>
            <a:pPr algn="ctr">
              <a:lnSpc>
                <a:spcPts val="3359"/>
              </a:lnSpc>
            </a:pPr>
            <a:r>
              <a:rPr lang="en-US" sz="2400" b="1">
                <a:solidFill>
                  <a:srgbClr val="061313"/>
                </a:solidFill>
                <a:latin typeface="Libre Baskerville Bold"/>
                <a:ea typeface="Libre Baskerville Bold"/>
                <a:cs typeface="Libre Baskerville Bold"/>
                <a:sym typeface="Libre Baskerville Bold"/>
              </a:rPr>
              <a:t>2</a:t>
            </a:r>
          </a:p>
        </p:txBody>
      </p:sp>
      <p:sp>
        <p:nvSpPr>
          <p:cNvPr id="15" name="TextBox 15"/>
          <p:cNvSpPr txBox="1"/>
          <p:nvPr/>
        </p:nvSpPr>
        <p:spPr>
          <a:xfrm>
            <a:off x="3458836"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3458836" y="4807321"/>
            <a:ext cx="763288" cy="76328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5" name="Group 5"/>
          <p:cNvGrpSpPr/>
          <p:nvPr/>
        </p:nvGrpSpPr>
        <p:grpSpPr>
          <a:xfrm>
            <a:off x="3458836" y="6863460"/>
            <a:ext cx="763288" cy="76328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8" name="Group 8"/>
          <p:cNvGrpSpPr/>
          <p:nvPr/>
        </p:nvGrpSpPr>
        <p:grpSpPr>
          <a:xfrm>
            <a:off x="0" y="543242"/>
            <a:ext cx="3008659" cy="970915"/>
            <a:chOff x="0" y="0"/>
            <a:chExt cx="792404" cy="255714"/>
          </a:xfrm>
        </p:grpSpPr>
        <p:sp>
          <p:nvSpPr>
            <p:cNvPr id="9" name="Freeform 9"/>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10" name="TextBox 10"/>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3458836" y="5682360"/>
            <a:ext cx="13800464" cy="1019175"/>
          </a:xfrm>
          <a:prstGeom prst="rect">
            <a:avLst/>
          </a:prstGeom>
        </p:spPr>
        <p:txBody>
          <a:bodyPr lIns="0" tIns="0" rIns="0" bIns="0" rtlCol="0" anchor="t">
            <a:spAutoFit/>
          </a:bodyPr>
          <a:lstStyle/>
          <a:p>
            <a:pPr algn="l">
              <a:lnSpc>
                <a:spcPts val="4199"/>
              </a:lnSpc>
            </a:pPr>
            <a:r>
              <a:rPr lang="en-US" sz="2999">
                <a:solidFill>
                  <a:srgbClr val="061313"/>
                </a:solidFill>
                <a:latin typeface="Libre Baskerville"/>
                <a:ea typeface="Libre Baskerville"/>
                <a:cs typeface="Libre Baskerville"/>
                <a:sym typeface="Libre Baskerville"/>
              </a:rPr>
              <a:t>To design a motor configuration to control the orientation of the platform on 2 axis based on the output of the PID controller. </a:t>
            </a:r>
          </a:p>
        </p:txBody>
      </p:sp>
      <p:sp>
        <p:nvSpPr>
          <p:cNvPr id="12" name="TextBox 12"/>
          <p:cNvSpPr txBox="1"/>
          <p:nvPr/>
        </p:nvSpPr>
        <p:spPr>
          <a:xfrm>
            <a:off x="3458836" y="4971795"/>
            <a:ext cx="763288" cy="396240"/>
          </a:xfrm>
          <a:prstGeom prst="rect">
            <a:avLst/>
          </a:prstGeom>
        </p:spPr>
        <p:txBody>
          <a:bodyPr lIns="0" tIns="0" rIns="0" bIns="0" rtlCol="0" anchor="t">
            <a:spAutoFit/>
          </a:bodyPr>
          <a:lstStyle/>
          <a:p>
            <a:pPr algn="ctr">
              <a:lnSpc>
                <a:spcPts val="3359"/>
              </a:lnSpc>
            </a:pPr>
            <a:r>
              <a:rPr lang="en-US" sz="2400" b="1">
                <a:solidFill>
                  <a:srgbClr val="061313"/>
                </a:solidFill>
                <a:latin typeface="Libre Baskerville Bold"/>
                <a:ea typeface="Libre Baskerville Bold"/>
                <a:cs typeface="Libre Baskerville Bold"/>
                <a:sym typeface="Libre Baskerville Bold"/>
              </a:rPr>
              <a:t>4</a:t>
            </a:r>
          </a:p>
        </p:txBody>
      </p:sp>
      <p:sp>
        <p:nvSpPr>
          <p:cNvPr id="13" name="TextBox 13"/>
          <p:cNvSpPr txBox="1"/>
          <p:nvPr/>
        </p:nvSpPr>
        <p:spPr>
          <a:xfrm>
            <a:off x="3458836" y="7027935"/>
            <a:ext cx="763288" cy="396240"/>
          </a:xfrm>
          <a:prstGeom prst="rect">
            <a:avLst/>
          </a:prstGeom>
        </p:spPr>
        <p:txBody>
          <a:bodyPr lIns="0" tIns="0" rIns="0" bIns="0" rtlCol="0" anchor="t">
            <a:spAutoFit/>
          </a:bodyPr>
          <a:lstStyle/>
          <a:p>
            <a:pPr algn="ctr">
              <a:lnSpc>
                <a:spcPts val="3359"/>
              </a:lnSpc>
            </a:pPr>
            <a:r>
              <a:rPr lang="en-US" sz="2400" b="1">
                <a:solidFill>
                  <a:srgbClr val="061313"/>
                </a:solidFill>
                <a:latin typeface="Libre Baskerville Bold"/>
                <a:ea typeface="Libre Baskerville Bold"/>
                <a:cs typeface="Libre Baskerville Bold"/>
                <a:sym typeface="Libre Baskerville Bold"/>
              </a:rPr>
              <a:t>5</a:t>
            </a:r>
          </a:p>
        </p:txBody>
      </p:sp>
      <p:sp>
        <p:nvSpPr>
          <p:cNvPr id="14" name="TextBox 14"/>
          <p:cNvSpPr txBox="1"/>
          <p:nvPr/>
        </p:nvSpPr>
        <p:spPr>
          <a:xfrm>
            <a:off x="3458836"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Objectives</a:t>
            </a:r>
          </a:p>
        </p:txBody>
      </p:sp>
      <p:sp>
        <p:nvSpPr>
          <p:cNvPr id="15" name="TextBox 15"/>
          <p:cNvSpPr txBox="1"/>
          <p:nvPr/>
        </p:nvSpPr>
        <p:spPr>
          <a:xfrm>
            <a:off x="3458836" y="7731760"/>
            <a:ext cx="13800464" cy="1526540"/>
          </a:xfrm>
          <a:prstGeom prst="rect">
            <a:avLst/>
          </a:prstGeom>
        </p:spPr>
        <p:txBody>
          <a:bodyPr lIns="0" tIns="0" rIns="0" bIns="0" rtlCol="0" anchor="t">
            <a:spAutoFit/>
          </a:bodyPr>
          <a:lstStyle/>
          <a:p>
            <a:pPr algn="l">
              <a:lnSpc>
                <a:spcPts val="4059"/>
              </a:lnSpc>
            </a:pPr>
            <a:r>
              <a:rPr lang="en-US" sz="2899">
                <a:solidFill>
                  <a:srgbClr val="061313"/>
                </a:solidFill>
                <a:latin typeface="Libre Baskerville"/>
                <a:ea typeface="Libre Baskerville"/>
                <a:cs typeface="Libre Baskerville"/>
                <a:sym typeface="Libre Baskerville"/>
              </a:rPr>
              <a:t>To implement the PID controller circuit in combination with the mechanical pendulum sensor and motor configuration to perform platform stabilization. </a:t>
            </a:r>
          </a:p>
        </p:txBody>
      </p:sp>
      <p:sp>
        <p:nvSpPr>
          <p:cNvPr id="16" name="TextBox 16"/>
          <p:cNvSpPr txBox="1"/>
          <p:nvPr/>
        </p:nvSpPr>
        <p:spPr>
          <a:xfrm>
            <a:off x="3458836" y="2973441"/>
            <a:ext cx="13800464" cy="1471930"/>
          </a:xfrm>
          <a:prstGeom prst="rect">
            <a:avLst/>
          </a:prstGeom>
        </p:spPr>
        <p:txBody>
          <a:bodyPr lIns="0" tIns="0" rIns="0" bIns="0" rtlCol="0" anchor="t">
            <a:spAutoFit/>
          </a:bodyPr>
          <a:lstStyle/>
          <a:p>
            <a:pPr algn="l">
              <a:lnSpc>
                <a:spcPts val="3919"/>
              </a:lnSpc>
            </a:pPr>
            <a:r>
              <a:rPr lang="en-US" sz="2799">
                <a:solidFill>
                  <a:srgbClr val="061313"/>
                </a:solidFill>
                <a:latin typeface="Libre Baskerville"/>
                <a:ea typeface="Libre Baskerville"/>
                <a:cs typeface="Libre Baskerville"/>
                <a:sym typeface="Libre Baskerville"/>
              </a:rPr>
              <a:t>To develop an efficient PID controller with suitable proportional gain (Kp), Integral Gain (Ki) and Differential Gain (Kd) to achieve accurate platform stabilization.</a:t>
            </a:r>
          </a:p>
        </p:txBody>
      </p:sp>
      <p:grpSp>
        <p:nvGrpSpPr>
          <p:cNvPr id="17" name="Group 17"/>
          <p:cNvGrpSpPr/>
          <p:nvPr/>
        </p:nvGrpSpPr>
        <p:grpSpPr>
          <a:xfrm>
            <a:off x="3458836" y="2105377"/>
            <a:ext cx="763288" cy="7632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61313"/>
              </a:solidFill>
              <a:prstDash val="solid"/>
              <a:miter/>
            </a:ln>
          </p:spPr>
        </p:sp>
        <p:sp>
          <p:nvSpPr>
            <p:cNvPr id="19" name="TextBox 19"/>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sp>
        <p:nvSpPr>
          <p:cNvPr id="20" name="TextBox 20"/>
          <p:cNvSpPr txBox="1"/>
          <p:nvPr/>
        </p:nvSpPr>
        <p:spPr>
          <a:xfrm>
            <a:off x="3458836" y="2269851"/>
            <a:ext cx="763288" cy="396240"/>
          </a:xfrm>
          <a:prstGeom prst="rect">
            <a:avLst/>
          </a:prstGeom>
        </p:spPr>
        <p:txBody>
          <a:bodyPr lIns="0" tIns="0" rIns="0" bIns="0" rtlCol="0" anchor="t">
            <a:spAutoFit/>
          </a:bodyPr>
          <a:lstStyle/>
          <a:p>
            <a:pPr algn="ctr">
              <a:lnSpc>
                <a:spcPts val="3359"/>
              </a:lnSpc>
            </a:pPr>
            <a:r>
              <a:rPr lang="en-US" sz="2400" b="1">
                <a:solidFill>
                  <a:srgbClr val="061313"/>
                </a:solidFill>
                <a:latin typeface="Libre Baskerville Bold"/>
                <a:ea typeface="Libre Baskerville Bold"/>
                <a:cs typeface="Libre Baskerville Bold"/>
                <a:sym typeface="Libre Baskerville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0" y="1434660"/>
            <a:ext cx="3008659" cy="970915"/>
            <a:chOff x="0" y="0"/>
            <a:chExt cx="792404" cy="255714"/>
          </a:xfrm>
        </p:grpSpPr>
        <p:sp>
          <p:nvSpPr>
            <p:cNvPr id="3" name="Freeform 3"/>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4" name="TextBox 4"/>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1607877" y="3273241"/>
            <a:ext cx="2801564" cy="1597758"/>
            <a:chOff x="0" y="0"/>
            <a:chExt cx="737860" cy="420809"/>
          </a:xfrm>
        </p:grpSpPr>
        <p:sp>
          <p:nvSpPr>
            <p:cNvPr id="6" name="Freeform 6"/>
            <p:cNvSpPr/>
            <p:nvPr/>
          </p:nvSpPr>
          <p:spPr>
            <a:xfrm>
              <a:off x="0" y="0"/>
              <a:ext cx="737860" cy="420809"/>
            </a:xfrm>
            <a:custGeom>
              <a:avLst/>
              <a:gdLst/>
              <a:ahLst/>
              <a:cxnLst/>
              <a:rect l="l" t="t" r="r" b="b"/>
              <a:pathLst>
                <a:path w="737860" h="420809">
                  <a:moveTo>
                    <a:pt x="0" y="0"/>
                  </a:moveTo>
                  <a:lnTo>
                    <a:pt x="737860" y="0"/>
                  </a:lnTo>
                  <a:lnTo>
                    <a:pt x="737860" y="420809"/>
                  </a:lnTo>
                  <a:lnTo>
                    <a:pt x="0" y="420809"/>
                  </a:lnTo>
                  <a:close/>
                </a:path>
              </a:pathLst>
            </a:custGeom>
            <a:solidFill>
              <a:srgbClr val="FFFFFF"/>
            </a:solidFill>
          </p:spPr>
        </p:sp>
        <p:sp>
          <p:nvSpPr>
            <p:cNvPr id="7" name="TextBox 7"/>
            <p:cNvSpPr txBox="1"/>
            <p:nvPr/>
          </p:nvSpPr>
          <p:spPr>
            <a:xfrm>
              <a:off x="0" y="-38100"/>
              <a:ext cx="737860" cy="458909"/>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3840480" y="1320360"/>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Block Diagram</a:t>
            </a:r>
          </a:p>
        </p:txBody>
      </p:sp>
      <p:grpSp>
        <p:nvGrpSpPr>
          <p:cNvPr id="9" name="Group 9"/>
          <p:cNvGrpSpPr/>
          <p:nvPr/>
        </p:nvGrpSpPr>
        <p:grpSpPr>
          <a:xfrm>
            <a:off x="14663556" y="2780775"/>
            <a:ext cx="2862484" cy="2582690"/>
            <a:chOff x="0" y="0"/>
            <a:chExt cx="753905" cy="680215"/>
          </a:xfrm>
        </p:grpSpPr>
        <p:sp>
          <p:nvSpPr>
            <p:cNvPr id="10" name="Freeform 10"/>
            <p:cNvSpPr/>
            <p:nvPr/>
          </p:nvSpPr>
          <p:spPr>
            <a:xfrm>
              <a:off x="0" y="0"/>
              <a:ext cx="753905" cy="680215"/>
            </a:xfrm>
            <a:custGeom>
              <a:avLst/>
              <a:gdLst/>
              <a:ahLst/>
              <a:cxnLst/>
              <a:rect l="l" t="t" r="r" b="b"/>
              <a:pathLst>
                <a:path w="753905" h="680215">
                  <a:moveTo>
                    <a:pt x="0" y="0"/>
                  </a:moveTo>
                  <a:lnTo>
                    <a:pt x="753905" y="0"/>
                  </a:lnTo>
                  <a:lnTo>
                    <a:pt x="753905" y="680215"/>
                  </a:lnTo>
                  <a:lnTo>
                    <a:pt x="0" y="680215"/>
                  </a:lnTo>
                  <a:close/>
                </a:path>
              </a:pathLst>
            </a:custGeom>
            <a:solidFill>
              <a:srgbClr val="FFFFFF"/>
            </a:solidFill>
          </p:spPr>
        </p:sp>
        <p:sp>
          <p:nvSpPr>
            <p:cNvPr id="11" name="TextBox 11"/>
            <p:cNvSpPr txBox="1"/>
            <p:nvPr/>
          </p:nvSpPr>
          <p:spPr>
            <a:xfrm>
              <a:off x="0" y="-38100"/>
              <a:ext cx="753905" cy="71831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9925050" y="2780775"/>
            <a:ext cx="3957456" cy="2582690"/>
            <a:chOff x="0" y="0"/>
            <a:chExt cx="1042293" cy="680215"/>
          </a:xfrm>
        </p:grpSpPr>
        <p:sp>
          <p:nvSpPr>
            <p:cNvPr id="13" name="Freeform 13"/>
            <p:cNvSpPr/>
            <p:nvPr/>
          </p:nvSpPr>
          <p:spPr>
            <a:xfrm>
              <a:off x="0" y="0"/>
              <a:ext cx="1042293" cy="680215"/>
            </a:xfrm>
            <a:custGeom>
              <a:avLst/>
              <a:gdLst/>
              <a:ahLst/>
              <a:cxnLst/>
              <a:rect l="l" t="t" r="r" b="b"/>
              <a:pathLst>
                <a:path w="1042293" h="680215">
                  <a:moveTo>
                    <a:pt x="0" y="0"/>
                  </a:moveTo>
                  <a:lnTo>
                    <a:pt x="1042293" y="0"/>
                  </a:lnTo>
                  <a:lnTo>
                    <a:pt x="1042293" y="680215"/>
                  </a:lnTo>
                  <a:lnTo>
                    <a:pt x="0" y="680215"/>
                  </a:lnTo>
                  <a:close/>
                </a:path>
              </a:pathLst>
            </a:custGeom>
            <a:solidFill>
              <a:srgbClr val="FFFFFF"/>
            </a:solidFill>
          </p:spPr>
        </p:sp>
        <p:sp>
          <p:nvSpPr>
            <p:cNvPr id="14" name="TextBox 14"/>
            <p:cNvSpPr txBox="1"/>
            <p:nvPr/>
          </p:nvSpPr>
          <p:spPr>
            <a:xfrm>
              <a:off x="0" y="-38100"/>
              <a:ext cx="1042293" cy="718315"/>
            </a:xfrm>
            <a:prstGeom prst="rect">
              <a:avLst/>
            </a:prstGeom>
          </p:spPr>
          <p:txBody>
            <a:bodyPr lIns="50800" tIns="50800" rIns="50800" bIns="50800" rtlCol="0" anchor="ctr"/>
            <a:lstStyle/>
            <a:p>
              <a:pPr algn="ctr">
                <a:lnSpc>
                  <a:spcPts val="3359"/>
                </a:lnSpc>
              </a:pPr>
              <a:endParaRPr/>
            </a:p>
          </p:txBody>
        </p:sp>
      </p:grpSp>
      <p:grpSp>
        <p:nvGrpSpPr>
          <p:cNvPr id="15" name="Group 15"/>
          <p:cNvGrpSpPr/>
          <p:nvPr/>
        </p:nvGrpSpPr>
        <p:grpSpPr>
          <a:xfrm>
            <a:off x="5186544" y="2780775"/>
            <a:ext cx="3957456" cy="2582690"/>
            <a:chOff x="0" y="0"/>
            <a:chExt cx="1042293" cy="680215"/>
          </a:xfrm>
        </p:grpSpPr>
        <p:sp>
          <p:nvSpPr>
            <p:cNvPr id="16" name="Freeform 16"/>
            <p:cNvSpPr/>
            <p:nvPr/>
          </p:nvSpPr>
          <p:spPr>
            <a:xfrm>
              <a:off x="0" y="0"/>
              <a:ext cx="1042293" cy="680215"/>
            </a:xfrm>
            <a:custGeom>
              <a:avLst/>
              <a:gdLst/>
              <a:ahLst/>
              <a:cxnLst/>
              <a:rect l="l" t="t" r="r" b="b"/>
              <a:pathLst>
                <a:path w="1042293" h="680215">
                  <a:moveTo>
                    <a:pt x="0" y="0"/>
                  </a:moveTo>
                  <a:lnTo>
                    <a:pt x="1042293" y="0"/>
                  </a:lnTo>
                  <a:lnTo>
                    <a:pt x="1042293" y="680215"/>
                  </a:lnTo>
                  <a:lnTo>
                    <a:pt x="0" y="680215"/>
                  </a:lnTo>
                  <a:close/>
                </a:path>
              </a:pathLst>
            </a:custGeom>
            <a:solidFill>
              <a:srgbClr val="FFFFFF"/>
            </a:solidFill>
          </p:spPr>
        </p:sp>
        <p:sp>
          <p:nvSpPr>
            <p:cNvPr id="17" name="TextBox 17"/>
            <p:cNvSpPr txBox="1"/>
            <p:nvPr/>
          </p:nvSpPr>
          <p:spPr>
            <a:xfrm>
              <a:off x="0" y="-38100"/>
              <a:ext cx="1042293" cy="718315"/>
            </a:xfrm>
            <a:prstGeom prst="rect">
              <a:avLst/>
            </a:prstGeom>
          </p:spPr>
          <p:txBody>
            <a:bodyPr lIns="50800" tIns="50800" rIns="50800" bIns="50800" rtlCol="0" anchor="ctr"/>
            <a:lstStyle/>
            <a:p>
              <a:pPr algn="ctr">
                <a:lnSpc>
                  <a:spcPts val="3359"/>
                </a:lnSpc>
              </a:pPr>
              <a:endParaRPr/>
            </a:p>
          </p:txBody>
        </p:sp>
      </p:grpSp>
      <p:sp>
        <p:nvSpPr>
          <p:cNvPr id="18" name="TextBox 18"/>
          <p:cNvSpPr txBox="1"/>
          <p:nvPr/>
        </p:nvSpPr>
        <p:spPr>
          <a:xfrm>
            <a:off x="1607877" y="3694295"/>
            <a:ext cx="2801564" cy="679451"/>
          </a:xfrm>
          <a:prstGeom prst="rect">
            <a:avLst/>
          </a:prstGeom>
        </p:spPr>
        <p:txBody>
          <a:bodyPr lIns="0" tIns="0" rIns="0" bIns="0" rtlCol="0" anchor="t">
            <a:spAutoFit/>
          </a:bodyPr>
          <a:lstStyle/>
          <a:p>
            <a:pPr algn="ctr">
              <a:lnSpc>
                <a:spcPts val="5599"/>
              </a:lnSpc>
              <a:spcBef>
                <a:spcPct val="0"/>
              </a:spcBef>
            </a:pPr>
            <a:r>
              <a:rPr lang="en-US" sz="3999" b="1">
                <a:solidFill>
                  <a:srgbClr val="061313"/>
                </a:solidFill>
                <a:latin typeface="Libre Baskerville Bold"/>
                <a:ea typeface="Libre Baskerville Bold"/>
                <a:cs typeface="Libre Baskerville Bold"/>
                <a:sym typeface="Libre Baskerville Bold"/>
              </a:rPr>
              <a:t>Start</a:t>
            </a:r>
          </a:p>
        </p:txBody>
      </p:sp>
      <p:sp>
        <p:nvSpPr>
          <p:cNvPr id="19" name="TextBox 19"/>
          <p:cNvSpPr txBox="1"/>
          <p:nvPr/>
        </p:nvSpPr>
        <p:spPr>
          <a:xfrm>
            <a:off x="5186544" y="3097133"/>
            <a:ext cx="3957456" cy="1892824"/>
          </a:xfrm>
          <a:prstGeom prst="rect">
            <a:avLst/>
          </a:prstGeom>
        </p:spPr>
        <p:txBody>
          <a:bodyPr lIns="0" tIns="0" rIns="0" bIns="0" rtlCol="0" anchor="t">
            <a:spAutoFit/>
          </a:bodyPr>
          <a:lstStyle/>
          <a:p>
            <a:pPr algn="ctr">
              <a:lnSpc>
                <a:spcPts val="3821"/>
              </a:lnSpc>
              <a:spcBef>
                <a:spcPct val="0"/>
              </a:spcBef>
            </a:pPr>
            <a:r>
              <a:rPr lang="en-US" sz="2729" b="1">
                <a:solidFill>
                  <a:srgbClr val="061313"/>
                </a:solidFill>
                <a:latin typeface="Libre Baskerville Bold"/>
                <a:ea typeface="Libre Baskerville Bold"/>
                <a:cs typeface="Libre Baskerville Bold"/>
                <a:sym typeface="Libre Baskerville Bold"/>
              </a:rPr>
              <a:t>Pendulum position varies from original position as the platform tilts </a:t>
            </a:r>
          </a:p>
        </p:txBody>
      </p:sp>
      <p:sp>
        <p:nvSpPr>
          <p:cNvPr id="20" name="TextBox 20"/>
          <p:cNvSpPr txBox="1"/>
          <p:nvPr/>
        </p:nvSpPr>
        <p:spPr>
          <a:xfrm>
            <a:off x="9925050" y="2876245"/>
            <a:ext cx="3957456" cy="2322980"/>
          </a:xfrm>
          <a:prstGeom prst="rect">
            <a:avLst/>
          </a:prstGeom>
        </p:spPr>
        <p:txBody>
          <a:bodyPr lIns="0" tIns="0" rIns="0" bIns="0" rtlCol="0" anchor="t">
            <a:spAutoFit/>
          </a:bodyPr>
          <a:lstStyle/>
          <a:p>
            <a:pPr algn="ctr">
              <a:lnSpc>
                <a:spcPts val="3736"/>
              </a:lnSpc>
              <a:spcBef>
                <a:spcPct val="0"/>
              </a:spcBef>
            </a:pPr>
            <a:r>
              <a:rPr lang="en-US" sz="2669" b="1">
                <a:solidFill>
                  <a:srgbClr val="061313"/>
                </a:solidFill>
                <a:latin typeface="Libre Baskerville Bold"/>
                <a:ea typeface="Libre Baskerville Bold"/>
                <a:cs typeface="Libre Baskerville Bold"/>
                <a:sym typeface="Libre Baskerville Bold"/>
              </a:rPr>
              <a:t>The pendulum rotates a potentiometer which  causes a change in voltage drop. </a:t>
            </a:r>
          </a:p>
        </p:txBody>
      </p:sp>
      <p:sp>
        <p:nvSpPr>
          <p:cNvPr id="21" name="TextBox 21"/>
          <p:cNvSpPr txBox="1"/>
          <p:nvPr/>
        </p:nvSpPr>
        <p:spPr>
          <a:xfrm>
            <a:off x="14663556" y="2901105"/>
            <a:ext cx="2862484" cy="2303930"/>
          </a:xfrm>
          <a:prstGeom prst="rect">
            <a:avLst/>
          </a:prstGeom>
        </p:spPr>
        <p:txBody>
          <a:bodyPr lIns="0" tIns="0" rIns="0" bIns="0" rtlCol="0" anchor="t">
            <a:spAutoFit/>
          </a:bodyPr>
          <a:lstStyle/>
          <a:p>
            <a:pPr algn="ctr">
              <a:lnSpc>
                <a:spcPts val="3098"/>
              </a:lnSpc>
              <a:spcBef>
                <a:spcPct val="0"/>
              </a:spcBef>
            </a:pPr>
            <a:r>
              <a:rPr lang="en-US" sz="2213" b="1">
                <a:solidFill>
                  <a:srgbClr val="061313"/>
                </a:solidFill>
                <a:latin typeface="Libre Baskerville Bold"/>
                <a:ea typeface="Libre Baskerville Bold"/>
                <a:cs typeface="Libre Baskerville Bold"/>
                <a:sym typeface="Libre Baskerville Bold"/>
              </a:rPr>
              <a:t>The voltage drop across the potentiometer is given as input to a PID controller circuit</a:t>
            </a:r>
          </a:p>
        </p:txBody>
      </p:sp>
      <p:grpSp>
        <p:nvGrpSpPr>
          <p:cNvPr id="22" name="Group 22"/>
          <p:cNvGrpSpPr/>
          <p:nvPr/>
        </p:nvGrpSpPr>
        <p:grpSpPr>
          <a:xfrm>
            <a:off x="12468792" y="6260057"/>
            <a:ext cx="3957456" cy="2582690"/>
            <a:chOff x="0" y="0"/>
            <a:chExt cx="1042293" cy="680215"/>
          </a:xfrm>
        </p:grpSpPr>
        <p:sp>
          <p:nvSpPr>
            <p:cNvPr id="23" name="Freeform 23"/>
            <p:cNvSpPr/>
            <p:nvPr/>
          </p:nvSpPr>
          <p:spPr>
            <a:xfrm>
              <a:off x="0" y="0"/>
              <a:ext cx="1042293" cy="680215"/>
            </a:xfrm>
            <a:custGeom>
              <a:avLst/>
              <a:gdLst/>
              <a:ahLst/>
              <a:cxnLst/>
              <a:rect l="l" t="t" r="r" b="b"/>
              <a:pathLst>
                <a:path w="1042293" h="680215">
                  <a:moveTo>
                    <a:pt x="0" y="0"/>
                  </a:moveTo>
                  <a:lnTo>
                    <a:pt x="1042293" y="0"/>
                  </a:lnTo>
                  <a:lnTo>
                    <a:pt x="1042293" y="680215"/>
                  </a:lnTo>
                  <a:lnTo>
                    <a:pt x="0" y="680215"/>
                  </a:lnTo>
                  <a:close/>
                </a:path>
              </a:pathLst>
            </a:custGeom>
            <a:solidFill>
              <a:srgbClr val="FFFFFF"/>
            </a:solidFill>
          </p:spPr>
        </p:sp>
        <p:sp>
          <p:nvSpPr>
            <p:cNvPr id="24" name="TextBox 24"/>
            <p:cNvSpPr txBox="1"/>
            <p:nvPr/>
          </p:nvSpPr>
          <p:spPr>
            <a:xfrm>
              <a:off x="0" y="-38100"/>
              <a:ext cx="1042293" cy="718315"/>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12468792" y="6282635"/>
            <a:ext cx="3957456" cy="2489909"/>
          </a:xfrm>
          <a:prstGeom prst="rect">
            <a:avLst/>
          </a:prstGeom>
        </p:spPr>
        <p:txBody>
          <a:bodyPr lIns="0" tIns="0" rIns="0" bIns="0" rtlCol="0" anchor="t">
            <a:spAutoFit/>
          </a:bodyPr>
          <a:lstStyle/>
          <a:p>
            <a:pPr algn="ctr">
              <a:lnSpc>
                <a:spcPts val="3300"/>
              </a:lnSpc>
              <a:spcBef>
                <a:spcPct val="0"/>
              </a:spcBef>
            </a:pPr>
            <a:r>
              <a:rPr lang="en-US" sz="2357" b="1">
                <a:solidFill>
                  <a:srgbClr val="061313"/>
                </a:solidFill>
                <a:latin typeface="Libre Baskerville Bold"/>
                <a:ea typeface="Libre Baskerville Bold"/>
                <a:cs typeface="Libre Baskerville Bold"/>
                <a:sym typeface="Libre Baskerville Bold"/>
              </a:rPr>
              <a:t>The output of the PID controller circuit is fed to motor drivers which are in a specific configuration attached to the platform</a:t>
            </a:r>
          </a:p>
        </p:txBody>
      </p:sp>
      <p:grpSp>
        <p:nvGrpSpPr>
          <p:cNvPr id="26" name="Group 26"/>
          <p:cNvGrpSpPr/>
          <p:nvPr/>
        </p:nvGrpSpPr>
        <p:grpSpPr>
          <a:xfrm>
            <a:off x="7269816" y="6260057"/>
            <a:ext cx="3957456" cy="2582690"/>
            <a:chOff x="0" y="0"/>
            <a:chExt cx="1042293" cy="680215"/>
          </a:xfrm>
        </p:grpSpPr>
        <p:sp>
          <p:nvSpPr>
            <p:cNvPr id="27" name="Freeform 27"/>
            <p:cNvSpPr/>
            <p:nvPr/>
          </p:nvSpPr>
          <p:spPr>
            <a:xfrm>
              <a:off x="0" y="0"/>
              <a:ext cx="1042293" cy="680215"/>
            </a:xfrm>
            <a:custGeom>
              <a:avLst/>
              <a:gdLst/>
              <a:ahLst/>
              <a:cxnLst/>
              <a:rect l="l" t="t" r="r" b="b"/>
              <a:pathLst>
                <a:path w="1042293" h="680215">
                  <a:moveTo>
                    <a:pt x="0" y="0"/>
                  </a:moveTo>
                  <a:lnTo>
                    <a:pt x="1042293" y="0"/>
                  </a:lnTo>
                  <a:lnTo>
                    <a:pt x="1042293" y="680215"/>
                  </a:lnTo>
                  <a:lnTo>
                    <a:pt x="0" y="680215"/>
                  </a:lnTo>
                  <a:close/>
                </a:path>
              </a:pathLst>
            </a:custGeom>
            <a:solidFill>
              <a:srgbClr val="FFFFFF"/>
            </a:solidFill>
          </p:spPr>
        </p:sp>
        <p:sp>
          <p:nvSpPr>
            <p:cNvPr id="28" name="TextBox 28"/>
            <p:cNvSpPr txBox="1"/>
            <p:nvPr/>
          </p:nvSpPr>
          <p:spPr>
            <a:xfrm>
              <a:off x="0" y="-38100"/>
              <a:ext cx="1042293" cy="718315"/>
            </a:xfrm>
            <a:prstGeom prst="rect">
              <a:avLst/>
            </a:prstGeom>
          </p:spPr>
          <p:txBody>
            <a:bodyPr lIns="50800" tIns="50800" rIns="50800" bIns="50800" rtlCol="0" anchor="ctr"/>
            <a:lstStyle/>
            <a:p>
              <a:pPr algn="ctr">
                <a:lnSpc>
                  <a:spcPts val="3359"/>
                </a:lnSpc>
              </a:pPr>
              <a:endParaRPr/>
            </a:p>
          </p:txBody>
        </p:sp>
      </p:grpSp>
      <p:grpSp>
        <p:nvGrpSpPr>
          <p:cNvPr id="29" name="Group 29"/>
          <p:cNvGrpSpPr/>
          <p:nvPr/>
        </p:nvGrpSpPr>
        <p:grpSpPr>
          <a:xfrm>
            <a:off x="3226732" y="6752523"/>
            <a:ext cx="2801564" cy="1597758"/>
            <a:chOff x="0" y="0"/>
            <a:chExt cx="737860" cy="420809"/>
          </a:xfrm>
        </p:grpSpPr>
        <p:sp>
          <p:nvSpPr>
            <p:cNvPr id="30" name="Freeform 30"/>
            <p:cNvSpPr/>
            <p:nvPr/>
          </p:nvSpPr>
          <p:spPr>
            <a:xfrm>
              <a:off x="0" y="0"/>
              <a:ext cx="737860" cy="420809"/>
            </a:xfrm>
            <a:custGeom>
              <a:avLst/>
              <a:gdLst/>
              <a:ahLst/>
              <a:cxnLst/>
              <a:rect l="l" t="t" r="r" b="b"/>
              <a:pathLst>
                <a:path w="737860" h="420809">
                  <a:moveTo>
                    <a:pt x="0" y="0"/>
                  </a:moveTo>
                  <a:lnTo>
                    <a:pt x="737860" y="0"/>
                  </a:lnTo>
                  <a:lnTo>
                    <a:pt x="737860" y="420809"/>
                  </a:lnTo>
                  <a:lnTo>
                    <a:pt x="0" y="420809"/>
                  </a:lnTo>
                  <a:close/>
                </a:path>
              </a:pathLst>
            </a:custGeom>
            <a:solidFill>
              <a:srgbClr val="FFFFFF"/>
            </a:solidFill>
          </p:spPr>
        </p:sp>
        <p:sp>
          <p:nvSpPr>
            <p:cNvPr id="31" name="TextBox 31"/>
            <p:cNvSpPr txBox="1"/>
            <p:nvPr/>
          </p:nvSpPr>
          <p:spPr>
            <a:xfrm>
              <a:off x="0" y="-38100"/>
              <a:ext cx="737860" cy="458909"/>
            </a:xfrm>
            <a:prstGeom prst="rect">
              <a:avLst/>
            </a:prstGeom>
          </p:spPr>
          <p:txBody>
            <a:bodyPr lIns="50800" tIns="50800" rIns="50800" bIns="50800" rtlCol="0" anchor="ctr"/>
            <a:lstStyle/>
            <a:p>
              <a:pPr algn="ctr">
                <a:lnSpc>
                  <a:spcPts val="3359"/>
                </a:lnSpc>
              </a:pPr>
              <a:endParaRPr/>
            </a:p>
          </p:txBody>
        </p:sp>
      </p:grpSp>
      <p:sp>
        <p:nvSpPr>
          <p:cNvPr id="32" name="TextBox 32"/>
          <p:cNvSpPr txBox="1"/>
          <p:nvPr/>
        </p:nvSpPr>
        <p:spPr>
          <a:xfrm>
            <a:off x="7269816" y="6361337"/>
            <a:ext cx="3957456" cy="2322980"/>
          </a:xfrm>
          <a:prstGeom prst="rect">
            <a:avLst/>
          </a:prstGeom>
        </p:spPr>
        <p:txBody>
          <a:bodyPr lIns="0" tIns="0" rIns="0" bIns="0" rtlCol="0" anchor="t">
            <a:spAutoFit/>
          </a:bodyPr>
          <a:lstStyle/>
          <a:p>
            <a:pPr algn="ctr">
              <a:lnSpc>
                <a:spcPts val="3736"/>
              </a:lnSpc>
              <a:spcBef>
                <a:spcPct val="0"/>
              </a:spcBef>
            </a:pPr>
            <a:r>
              <a:rPr lang="en-US" sz="2669" b="1">
                <a:solidFill>
                  <a:srgbClr val="061313"/>
                </a:solidFill>
                <a:latin typeface="Libre Baskerville Bold"/>
                <a:ea typeface="Libre Baskerville Bold"/>
                <a:cs typeface="Libre Baskerville Bold"/>
                <a:sym typeface="Libre Baskerville Bold"/>
              </a:rPr>
              <a:t>The motor drivers push the platform back into its original postition or equilibrium state</a:t>
            </a:r>
          </a:p>
        </p:txBody>
      </p:sp>
      <p:sp>
        <p:nvSpPr>
          <p:cNvPr id="33" name="TextBox 33"/>
          <p:cNvSpPr txBox="1"/>
          <p:nvPr/>
        </p:nvSpPr>
        <p:spPr>
          <a:xfrm>
            <a:off x="3226732" y="7173576"/>
            <a:ext cx="2801564" cy="679451"/>
          </a:xfrm>
          <a:prstGeom prst="rect">
            <a:avLst/>
          </a:prstGeom>
        </p:spPr>
        <p:txBody>
          <a:bodyPr lIns="0" tIns="0" rIns="0" bIns="0" rtlCol="0" anchor="t">
            <a:spAutoFit/>
          </a:bodyPr>
          <a:lstStyle/>
          <a:p>
            <a:pPr algn="ctr">
              <a:lnSpc>
                <a:spcPts val="5599"/>
              </a:lnSpc>
              <a:spcBef>
                <a:spcPct val="0"/>
              </a:spcBef>
            </a:pPr>
            <a:r>
              <a:rPr lang="en-US" sz="3999" b="1">
                <a:solidFill>
                  <a:srgbClr val="061313"/>
                </a:solidFill>
                <a:latin typeface="Libre Baskerville Bold"/>
                <a:ea typeface="Libre Baskerville Bold"/>
                <a:cs typeface="Libre Baskerville Bold"/>
                <a:sym typeface="Libre Baskerville Bold"/>
              </a:rPr>
              <a:t>End</a:t>
            </a:r>
          </a:p>
        </p:txBody>
      </p:sp>
      <p:sp>
        <p:nvSpPr>
          <p:cNvPr id="34" name="AutoShape 34"/>
          <p:cNvSpPr/>
          <p:nvPr/>
        </p:nvSpPr>
        <p:spPr>
          <a:xfrm>
            <a:off x="4409441" y="4072120"/>
            <a:ext cx="807854" cy="65652"/>
          </a:xfrm>
          <a:prstGeom prst="line">
            <a:avLst/>
          </a:prstGeom>
          <a:ln w="38100" cap="flat">
            <a:solidFill>
              <a:srgbClr val="000000"/>
            </a:solidFill>
            <a:prstDash val="solid"/>
            <a:headEnd type="none" w="sm" len="sm"/>
            <a:tailEnd type="arrow" w="med" len="sm"/>
          </a:ln>
        </p:spPr>
      </p:sp>
      <p:sp>
        <p:nvSpPr>
          <p:cNvPr id="35" name="AutoShape 35"/>
          <p:cNvSpPr/>
          <p:nvPr/>
        </p:nvSpPr>
        <p:spPr>
          <a:xfrm>
            <a:off x="9143767" y="4066310"/>
            <a:ext cx="733450" cy="78066"/>
          </a:xfrm>
          <a:prstGeom prst="line">
            <a:avLst/>
          </a:prstGeom>
          <a:ln w="38100" cap="flat">
            <a:solidFill>
              <a:srgbClr val="000000"/>
            </a:solidFill>
            <a:prstDash val="solid"/>
            <a:headEnd type="none" w="sm" len="sm"/>
            <a:tailEnd type="arrow" w="med" len="sm"/>
          </a:ln>
        </p:spPr>
      </p:sp>
      <p:sp>
        <p:nvSpPr>
          <p:cNvPr id="36" name="AutoShape 36"/>
          <p:cNvSpPr/>
          <p:nvPr/>
        </p:nvSpPr>
        <p:spPr>
          <a:xfrm>
            <a:off x="13882506" y="4072120"/>
            <a:ext cx="890487" cy="109437"/>
          </a:xfrm>
          <a:prstGeom prst="line">
            <a:avLst/>
          </a:prstGeom>
          <a:ln w="38100" cap="flat">
            <a:solidFill>
              <a:srgbClr val="000000"/>
            </a:solidFill>
            <a:prstDash val="solid"/>
            <a:headEnd type="none" w="sm" len="sm"/>
            <a:tailEnd type="arrow" w="med" len="sm"/>
          </a:ln>
        </p:spPr>
      </p:sp>
      <p:sp>
        <p:nvSpPr>
          <p:cNvPr id="37" name="AutoShape 37"/>
          <p:cNvSpPr/>
          <p:nvPr/>
        </p:nvSpPr>
        <p:spPr>
          <a:xfrm flipH="1" flipV="1">
            <a:off x="16426630" y="7833981"/>
            <a:ext cx="1387057" cy="19046"/>
          </a:xfrm>
          <a:prstGeom prst="line">
            <a:avLst/>
          </a:prstGeom>
          <a:ln w="38100" cap="flat">
            <a:solidFill>
              <a:srgbClr val="000000"/>
            </a:solidFill>
            <a:prstDash val="solid"/>
            <a:headEnd type="none" w="sm" len="sm"/>
            <a:tailEnd type="arrow" w="med" len="sm"/>
          </a:ln>
        </p:spPr>
      </p:sp>
      <p:sp>
        <p:nvSpPr>
          <p:cNvPr id="38" name="AutoShape 38"/>
          <p:cNvSpPr/>
          <p:nvPr/>
        </p:nvSpPr>
        <p:spPr>
          <a:xfrm flipH="1">
            <a:off x="11451011" y="7551402"/>
            <a:ext cx="1017781" cy="0"/>
          </a:xfrm>
          <a:prstGeom prst="line">
            <a:avLst/>
          </a:prstGeom>
          <a:ln w="38100" cap="flat">
            <a:solidFill>
              <a:srgbClr val="000000"/>
            </a:solidFill>
            <a:prstDash val="solid"/>
            <a:headEnd type="none" w="sm" len="sm"/>
            <a:tailEnd type="arrow" w="med" len="sm"/>
          </a:ln>
        </p:spPr>
      </p:sp>
      <p:sp>
        <p:nvSpPr>
          <p:cNvPr id="39" name="AutoShape 39"/>
          <p:cNvSpPr/>
          <p:nvPr/>
        </p:nvSpPr>
        <p:spPr>
          <a:xfrm flipH="1">
            <a:off x="6006408" y="7551402"/>
            <a:ext cx="1263407" cy="112274"/>
          </a:xfrm>
          <a:prstGeom prst="line">
            <a:avLst/>
          </a:prstGeom>
          <a:ln w="38100" cap="flat">
            <a:solidFill>
              <a:srgbClr val="000000"/>
            </a:solidFill>
            <a:prstDash val="solid"/>
            <a:headEnd type="none" w="sm" len="sm"/>
            <a:tailEnd type="arrow" w="med" len="sm"/>
          </a:ln>
        </p:spPr>
      </p:sp>
      <p:sp>
        <p:nvSpPr>
          <p:cNvPr id="40" name="AutoShape 40"/>
          <p:cNvSpPr/>
          <p:nvPr/>
        </p:nvSpPr>
        <p:spPr>
          <a:xfrm>
            <a:off x="17813688" y="4066310"/>
            <a:ext cx="19312" cy="3786717"/>
          </a:xfrm>
          <a:prstGeom prst="line">
            <a:avLst/>
          </a:prstGeom>
          <a:ln w="38100" cap="flat">
            <a:solidFill>
              <a:srgbClr val="000000"/>
            </a:solidFill>
            <a:prstDash val="solid"/>
            <a:headEnd type="none" w="sm" len="sm"/>
            <a:tailEnd type="none" w="sm" len="sm"/>
          </a:ln>
        </p:spPr>
      </p:sp>
      <p:sp>
        <p:nvSpPr>
          <p:cNvPr id="41" name="AutoShape 41"/>
          <p:cNvSpPr/>
          <p:nvPr/>
        </p:nvSpPr>
        <p:spPr>
          <a:xfrm>
            <a:off x="17526881" y="4054286"/>
            <a:ext cx="306118" cy="12024"/>
          </a:xfrm>
          <a:prstGeom prst="line">
            <a:avLst/>
          </a:prstGeom>
          <a:ln w="38100" cap="flat">
            <a:solidFill>
              <a:srgbClr val="000000"/>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0" y="686554"/>
            <a:ext cx="3008659" cy="970915"/>
            <a:chOff x="0" y="0"/>
            <a:chExt cx="792404" cy="255714"/>
          </a:xfrm>
        </p:grpSpPr>
        <p:sp>
          <p:nvSpPr>
            <p:cNvPr id="3" name="Freeform 3"/>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4" name="TextBox 4"/>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graphicFrame>
        <p:nvGraphicFramePr>
          <p:cNvPr id="5" name="Table 5"/>
          <p:cNvGraphicFramePr>
            <a:graphicFrameLocks noGrp="1"/>
          </p:cNvGraphicFramePr>
          <p:nvPr/>
        </p:nvGraphicFramePr>
        <p:xfrm>
          <a:off x="1504330" y="1657469"/>
          <a:ext cx="15992785" cy="8378698"/>
        </p:xfrm>
        <a:graphic>
          <a:graphicData uri="http://schemas.openxmlformats.org/drawingml/2006/table">
            <a:tbl>
              <a:tblPr/>
              <a:tblGrid>
                <a:gridCol w="3647162">
                  <a:extLst>
                    <a:ext uri="{9D8B030D-6E8A-4147-A177-3AD203B41FA5}">
                      <a16:colId xmlns:a16="http://schemas.microsoft.com/office/drawing/2014/main" val="20000"/>
                    </a:ext>
                  </a:extLst>
                </a:gridCol>
                <a:gridCol w="2795664">
                  <a:extLst>
                    <a:ext uri="{9D8B030D-6E8A-4147-A177-3AD203B41FA5}">
                      <a16:colId xmlns:a16="http://schemas.microsoft.com/office/drawing/2014/main" val="20001"/>
                    </a:ext>
                  </a:extLst>
                </a:gridCol>
                <a:gridCol w="6209952">
                  <a:extLst>
                    <a:ext uri="{9D8B030D-6E8A-4147-A177-3AD203B41FA5}">
                      <a16:colId xmlns:a16="http://schemas.microsoft.com/office/drawing/2014/main" val="20002"/>
                    </a:ext>
                  </a:extLst>
                </a:gridCol>
                <a:gridCol w="3340007">
                  <a:extLst>
                    <a:ext uri="{9D8B030D-6E8A-4147-A177-3AD203B41FA5}">
                      <a16:colId xmlns:a16="http://schemas.microsoft.com/office/drawing/2014/main" val="20003"/>
                    </a:ext>
                  </a:extLst>
                </a:gridCol>
              </a:tblGrid>
              <a:tr h="2303842">
                <a:tc>
                  <a:txBody>
                    <a:bodyPr/>
                    <a:lstStyle/>
                    <a:p>
                      <a:pPr algn="ctr">
                        <a:lnSpc>
                          <a:spcPts val="7279"/>
                        </a:lnSpc>
                        <a:defRPr/>
                      </a:pPr>
                      <a:r>
                        <a:rPr lang="en-US" sz="5199" b="1">
                          <a:solidFill>
                            <a:srgbClr val="000000"/>
                          </a:solidFill>
                          <a:latin typeface="Libre Baskerville Bold"/>
                          <a:ea typeface="Libre Baskerville Bold"/>
                          <a:cs typeface="Libre Baskerville Bold"/>
                          <a:sym typeface="Libre Baskerville Bold"/>
                        </a:rPr>
                        <a:t>Title</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ctr">
                        <a:lnSpc>
                          <a:spcPts val="6160"/>
                        </a:lnSpc>
                        <a:defRPr/>
                      </a:pPr>
                      <a:r>
                        <a:rPr lang="en-US" sz="4400" b="1">
                          <a:solidFill>
                            <a:srgbClr val="000000"/>
                          </a:solidFill>
                          <a:latin typeface="Libre Baskerville Bold"/>
                          <a:ea typeface="Libre Baskerville Bold"/>
                          <a:cs typeface="Libre Baskerville Bold"/>
                          <a:sym typeface="Libre Baskerville Bold"/>
                        </a:rPr>
                        <a:t>Authors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ctr">
                        <a:lnSpc>
                          <a:spcPts val="7280"/>
                        </a:lnSpc>
                        <a:defRPr/>
                      </a:pPr>
                      <a:r>
                        <a:rPr lang="en-US" sz="5200" b="1">
                          <a:solidFill>
                            <a:srgbClr val="000000"/>
                          </a:solidFill>
                          <a:latin typeface="Libre Baskerville Bold"/>
                          <a:ea typeface="Libre Baskerville Bold"/>
                          <a:cs typeface="Libre Baskerville Bold"/>
                          <a:sym typeface="Libre Baskerville Bold"/>
                        </a:rPr>
                        <a:t>Inference</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a:lstStyle/>
                    <a:p>
                      <a:pPr algn="ctr">
                        <a:lnSpc>
                          <a:spcPts val="7280"/>
                        </a:lnSpc>
                        <a:defRPr/>
                      </a:pPr>
                      <a:r>
                        <a:rPr lang="en-US" sz="5200" b="1">
                          <a:solidFill>
                            <a:srgbClr val="000000"/>
                          </a:solidFill>
                          <a:latin typeface="Libre Baskerville Bold"/>
                          <a:ea typeface="Libre Baskerville Bold"/>
                          <a:cs typeface="Libre Baskerville Bold"/>
                          <a:sym typeface="Libre Baskerville Bold"/>
                        </a:rPr>
                        <a:t>Source</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extLst>
                  <a:ext uri="{0D108BD9-81ED-4DB2-BD59-A6C34878D82A}">
                    <a16:rowId xmlns:a16="http://schemas.microsoft.com/office/drawing/2014/main" val="10000"/>
                  </a:ext>
                </a:extLst>
              </a:tr>
              <a:tr h="2649329">
                <a:tc>
                  <a:txBody>
                    <a:bodyPr/>
                    <a:lstStyle/>
                    <a:p>
                      <a:pPr algn="ctr">
                        <a:lnSpc>
                          <a:spcPts val="3080"/>
                        </a:lnSpc>
                        <a:defRPr/>
                      </a:pPr>
                      <a:r>
                        <a:rPr lang="en-US" sz="2200" b="1">
                          <a:solidFill>
                            <a:srgbClr val="000000"/>
                          </a:solidFill>
                          <a:latin typeface="Libre Baskerville Bold"/>
                          <a:ea typeface="Libre Baskerville Bold"/>
                          <a:cs typeface="Libre Baskerville Bold"/>
                          <a:sym typeface="Libre Baskerville Bold"/>
                        </a:rPr>
                        <a:t>Design of Analog PID Controller</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l">
                        <a:lnSpc>
                          <a:spcPts val="2379"/>
                        </a:lnSpc>
                        <a:defRPr/>
                      </a:pPr>
                      <a:r>
                        <a:rPr lang="en-US" sz="1699">
                          <a:solidFill>
                            <a:srgbClr val="000000"/>
                          </a:solidFill>
                          <a:latin typeface="Libre Baskerville"/>
                          <a:ea typeface="Libre Baskerville"/>
                          <a:cs typeface="Libre Baskerville"/>
                          <a:sym typeface="Libre Baskerville"/>
                        </a:rPr>
                        <a:t>Theophilus E, 2018</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Libre Baskerville"/>
                          <a:ea typeface="Libre Baskerville"/>
                          <a:cs typeface="Libre Baskerville"/>
                          <a:sym typeface="Libre Baskerville"/>
                        </a:rPr>
                        <a:t>Shows detailed op‑amp analog PID circuit design and tuning for step/sine responses—useful for building your own P, I, D stages in hardware.</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u="sng">
                          <a:solidFill>
                            <a:srgbClr val="000000"/>
                          </a:solidFill>
                          <a:latin typeface="Libre Baskerville"/>
                          <a:ea typeface="Libre Baskerville"/>
                          <a:cs typeface="Libre Baskerville"/>
                          <a:sym typeface="Libre Baskerville"/>
                        </a:rPr>
                        <a:t>https://zenodo.org/records/1467460</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1"/>
                  </a:ext>
                </a:extLst>
              </a:tr>
              <a:tr h="3425527">
                <a:tc>
                  <a:txBody>
                    <a:bodyPr/>
                    <a:lstStyle/>
                    <a:p>
                      <a:pPr algn="ctr">
                        <a:lnSpc>
                          <a:spcPts val="3079"/>
                        </a:lnSpc>
                        <a:defRPr/>
                      </a:pPr>
                      <a:r>
                        <a:rPr lang="en-US" sz="2199" b="1">
                          <a:solidFill>
                            <a:srgbClr val="000000"/>
                          </a:solidFill>
                          <a:latin typeface="Libre Baskerville Bold"/>
                          <a:ea typeface="Libre Baskerville Bold"/>
                          <a:cs typeface="Libre Baskerville Bold"/>
                          <a:sym typeface="Libre Baskerville Bold"/>
                        </a:rPr>
                        <a:t>Pendulum Analysis of an Integrated Accelerometer to assess its suitability to measure Dynamic Acceleration for Gait Applications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Libre Baskerville"/>
                          <a:ea typeface="Libre Baskerville"/>
                          <a:cs typeface="Libre Baskerville"/>
                          <a:sym typeface="Libre Baskerville"/>
                        </a:rPr>
                        <a:t>Alan Godfrey, Timothy Hourigan, Gearóid M. ÓLaighin, 2007</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Main Idea: Dynamic Acceleration is measured by mounting an accelerometer on a pendulum. </a:t>
                      </a:r>
                      <a:endParaRPr lang="en-US" sz="1100"/>
                    </a:p>
                    <a:p>
                      <a:pPr algn="ctr">
                        <a:lnSpc>
                          <a:spcPts val="2940"/>
                        </a:lnSpc>
                      </a:pPr>
                      <a:endParaRPr lang="en-US" sz="1100"/>
                    </a:p>
                    <a:p>
                      <a:pPr algn="ctr">
                        <a:lnSpc>
                          <a:spcPts val="2940"/>
                        </a:lnSpc>
                      </a:pPr>
                      <a:r>
                        <a:rPr lang="en-US" sz="2100">
                          <a:solidFill>
                            <a:srgbClr val="000000"/>
                          </a:solidFill>
                          <a:latin typeface="Libre Baskerville"/>
                          <a:ea typeface="Libre Baskerville"/>
                          <a:cs typeface="Libre Baskerville"/>
                          <a:sym typeface="Libre Baskerville"/>
                        </a:rPr>
                        <a:t>Relevance: Validates the use of a pendulum with a potentiometer as a feedback circuit and gives ideas for calibration and error analysis</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http://139.91.210.27/CBML/PROCEEDINGS/2007_EMBC/EMBC07/PDFs/Papers/12460325.pdf</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Box 6"/>
          <p:cNvSpPr txBox="1"/>
          <p:nvPr/>
        </p:nvSpPr>
        <p:spPr>
          <a:xfrm>
            <a:off x="3840480"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0" y="543242"/>
            <a:ext cx="3008659" cy="970915"/>
            <a:chOff x="0" y="0"/>
            <a:chExt cx="792404" cy="255714"/>
          </a:xfrm>
        </p:grpSpPr>
        <p:sp>
          <p:nvSpPr>
            <p:cNvPr id="3" name="Freeform 3"/>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4" name="TextBox 4"/>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3840480"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Literature Survey</a:t>
            </a:r>
          </a:p>
        </p:txBody>
      </p:sp>
      <p:graphicFrame>
        <p:nvGraphicFramePr>
          <p:cNvPr id="6" name="Table 6"/>
          <p:cNvGraphicFramePr>
            <a:graphicFrameLocks noGrp="1"/>
          </p:cNvGraphicFramePr>
          <p:nvPr/>
        </p:nvGraphicFramePr>
        <p:xfrm>
          <a:off x="1504330" y="1772514"/>
          <a:ext cx="15754970" cy="8177688"/>
        </p:xfrm>
        <a:graphic>
          <a:graphicData uri="http://schemas.openxmlformats.org/drawingml/2006/table">
            <a:tbl>
              <a:tblPr/>
              <a:tblGrid>
                <a:gridCol w="3938743">
                  <a:extLst>
                    <a:ext uri="{9D8B030D-6E8A-4147-A177-3AD203B41FA5}">
                      <a16:colId xmlns:a16="http://schemas.microsoft.com/office/drawing/2014/main" val="20000"/>
                    </a:ext>
                  </a:extLst>
                </a:gridCol>
                <a:gridCol w="2402912">
                  <a:extLst>
                    <a:ext uri="{9D8B030D-6E8A-4147-A177-3AD203B41FA5}">
                      <a16:colId xmlns:a16="http://schemas.microsoft.com/office/drawing/2014/main" val="20001"/>
                    </a:ext>
                  </a:extLst>
                </a:gridCol>
                <a:gridCol w="5869501">
                  <a:extLst>
                    <a:ext uri="{9D8B030D-6E8A-4147-A177-3AD203B41FA5}">
                      <a16:colId xmlns:a16="http://schemas.microsoft.com/office/drawing/2014/main" val="20002"/>
                    </a:ext>
                  </a:extLst>
                </a:gridCol>
                <a:gridCol w="3543815">
                  <a:extLst>
                    <a:ext uri="{9D8B030D-6E8A-4147-A177-3AD203B41FA5}">
                      <a16:colId xmlns:a16="http://schemas.microsoft.com/office/drawing/2014/main" val="20003"/>
                    </a:ext>
                  </a:extLst>
                </a:gridCol>
              </a:tblGrid>
              <a:tr h="3987386">
                <a:tc>
                  <a:txBody>
                    <a:bodyPr/>
                    <a:lstStyle/>
                    <a:p>
                      <a:pPr algn="ctr">
                        <a:lnSpc>
                          <a:spcPts val="3919"/>
                        </a:lnSpc>
                        <a:defRPr/>
                      </a:pPr>
                      <a:r>
                        <a:rPr lang="en-US" sz="2799" b="1">
                          <a:solidFill>
                            <a:srgbClr val="000000"/>
                          </a:solidFill>
                          <a:latin typeface="Arimo Bold"/>
                          <a:ea typeface="Arimo Bold"/>
                          <a:cs typeface="Arimo Bold"/>
                          <a:sym typeface="Arimo Bold"/>
                        </a:rPr>
                        <a:t>Designing a Robust Control System Based on Sliding Mode Control for Two-axis Gimbal Systems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Arimo"/>
                          <a:ea typeface="Arimo"/>
                          <a:cs typeface="Arimo"/>
                          <a:sym typeface="Arimo"/>
                        </a:rPr>
                        <a:t>Nguyen Viet Phuong et al., 2024</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Libre Baskerville"/>
                          <a:ea typeface="Libre Baskerville"/>
                          <a:cs typeface="Libre Baskerville"/>
                          <a:sym typeface="Libre Baskerville"/>
                        </a:rPr>
                        <a:t>Main Idea: Comparing different control systems such as SMC, PID, APRL to see which is better for a 2 axis gimbal</a:t>
                      </a:r>
                      <a:endParaRPr lang="en-US" sz="1100"/>
                    </a:p>
                    <a:p>
                      <a:pPr algn="ctr">
                        <a:lnSpc>
                          <a:spcPts val="2800"/>
                        </a:lnSpc>
                      </a:pPr>
                      <a:endParaRPr lang="en-US" sz="1100"/>
                    </a:p>
                    <a:p>
                      <a:pPr algn="ctr">
                        <a:lnSpc>
                          <a:spcPts val="2800"/>
                        </a:lnSpc>
                      </a:pPr>
                      <a:r>
                        <a:rPr lang="en-US" sz="2000">
                          <a:solidFill>
                            <a:srgbClr val="000000"/>
                          </a:solidFill>
                          <a:latin typeface="Libre Baskerville"/>
                          <a:ea typeface="Libre Baskerville"/>
                          <a:cs typeface="Libre Baskerville"/>
                          <a:sym typeface="Libre Baskerville"/>
                        </a:rPr>
                        <a:t>Relevance: Details for design of a  classical PID controller driving two motors. Validates that motor drivers and PID controller is sufficient for 2 axis stabilization</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u="sng">
                          <a:solidFill>
                            <a:srgbClr val="000000"/>
                          </a:solidFill>
                          <a:latin typeface="Libre Baskerville"/>
                          <a:ea typeface="Libre Baskerville"/>
                          <a:cs typeface="Libre Baskerville"/>
                          <a:sym typeface="Libre Baskerville"/>
                        </a:rPr>
                        <a:t>https://ieeexplore.ieee.org/document/10468229</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0"/>
                  </a:ext>
                </a:extLst>
              </a:tr>
              <a:tr h="4190302">
                <a:tc>
                  <a:txBody>
                    <a:bodyPr/>
                    <a:lstStyle/>
                    <a:p>
                      <a:pPr algn="ctr">
                        <a:lnSpc>
                          <a:spcPts val="3919"/>
                        </a:lnSpc>
                        <a:defRPr/>
                      </a:pPr>
                      <a:r>
                        <a:rPr lang="en-US" sz="2799" b="1">
                          <a:solidFill>
                            <a:srgbClr val="000000"/>
                          </a:solidFill>
                          <a:latin typeface="Arimo Bold"/>
                          <a:ea typeface="Arimo Bold"/>
                          <a:cs typeface="Arimo Bold"/>
                          <a:sym typeface="Arimo Bold"/>
                        </a:rPr>
                        <a:t>Control of inverted pendulum-wheeled cart systems using nonlinear observers</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Arimo"/>
                          <a:ea typeface="Arimo"/>
                          <a:cs typeface="Arimo"/>
                          <a:sym typeface="Arimo"/>
                        </a:rPr>
                        <a:t>N. Murata, H. Matsuno, A. Moran, M. Hayase, 1995</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Main Idea: Presented a nonlinear observer based compensator controller for an inverted pendulum on cart systems.</a:t>
                      </a:r>
                      <a:endParaRPr lang="en-US" sz="1100"/>
                    </a:p>
                    <a:p>
                      <a:pPr algn="ctr">
                        <a:lnSpc>
                          <a:spcPts val="2940"/>
                        </a:lnSpc>
                      </a:pPr>
                      <a:endParaRPr lang="en-US" sz="1100"/>
                    </a:p>
                    <a:p>
                      <a:pPr algn="ctr">
                        <a:lnSpc>
                          <a:spcPts val="2940"/>
                        </a:lnSpc>
                      </a:pPr>
                      <a:r>
                        <a:rPr lang="en-US" sz="2100">
                          <a:solidFill>
                            <a:srgbClr val="000000"/>
                          </a:solidFill>
                          <a:latin typeface="Libre Baskerville"/>
                          <a:ea typeface="Libre Baskerville"/>
                          <a:cs typeface="Libre Baskerville"/>
                          <a:sym typeface="Libre Baskerville"/>
                        </a:rPr>
                        <a:t>Relevance:  Uses pendulum angle sensors (potentiometers) to generate control signal. Describes usage a bidirectional DC motor to control the cart system stabilization. </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https://ieeexplore.ieee.org/stamp/stamp.jsp?arnumber=526643</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0" y="543242"/>
            <a:ext cx="3008659" cy="970915"/>
            <a:chOff x="0" y="0"/>
            <a:chExt cx="792404" cy="255714"/>
          </a:xfrm>
        </p:grpSpPr>
        <p:sp>
          <p:nvSpPr>
            <p:cNvPr id="3" name="Freeform 3"/>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4" name="TextBox 4"/>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3840480"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Literature Survey</a:t>
            </a:r>
          </a:p>
        </p:txBody>
      </p:sp>
      <p:graphicFrame>
        <p:nvGraphicFramePr>
          <p:cNvPr id="6" name="Table 6"/>
          <p:cNvGraphicFramePr>
            <a:graphicFrameLocks noGrp="1"/>
          </p:cNvGraphicFramePr>
          <p:nvPr/>
        </p:nvGraphicFramePr>
        <p:xfrm>
          <a:off x="1266515" y="2131034"/>
          <a:ext cx="15754970" cy="7900416"/>
        </p:xfrm>
        <a:graphic>
          <a:graphicData uri="http://schemas.openxmlformats.org/drawingml/2006/table">
            <a:tbl>
              <a:tblPr/>
              <a:tblGrid>
                <a:gridCol w="3368291">
                  <a:extLst>
                    <a:ext uri="{9D8B030D-6E8A-4147-A177-3AD203B41FA5}">
                      <a16:colId xmlns:a16="http://schemas.microsoft.com/office/drawing/2014/main" val="20000"/>
                    </a:ext>
                  </a:extLst>
                </a:gridCol>
                <a:gridCol w="2271269">
                  <a:extLst>
                    <a:ext uri="{9D8B030D-6E8A-4147-A177-3AD203B41FA5}">
                      <a16:colId xmlns:a16="http://schemas.microsoft.com/office/drawing/2014/main" val="20001"/>
                    </a:ext>
                  </a:extLst>
                </a:gridCol>
                <a:gridCol w="6176667">
                  <a:extLst>
                    <a:ext uri="{9D8B030D-6E8A-4147-A177-3AD203B41FA5}">
                      <a16:colId xmlns:a16="http://schemas.microsoft.com/office/drawing/2014/main" val="20002"/>
                    </a:ext>
                  </a:extLst>
                </a:gridCol>
                <a:gridCol w="3938743">
                  <a:extLst>
                    <a:ext uri="{9D8B030D-6E8A-4147-A177-3AD203B41FA5}">
                      <a16:colId xmlns:a16="http://schemas.microsoft.com/office/drawing/2014/main" val="20003"/>
                    </a:ext>
                  </a:extLst>
                </a:gridCol>
              </a:tblGrid>
              <a:tr h="3784818">
                <a:tc>
                  <a:txBody>
                    <a:bodyPr/>
                    <a:lstStyle/>
                    <a:p>
                      <a:pPr algn="ctr">
                        <a:lnSpc>
                          <a:spcPts val="3639"/>
                        </a:lnSpc>
                        <a:defRPr/>
                      </a:pPr>
                      <a:r>
                        <a:rPr lang="en-US" sz="2599" b="1">
                          <a:solidFill>
                            <a:srgbClr val="000000"/>
                          </a:solidFill>
                          <a:latin typeface="Libre Baskerville Bold"/>
                          <a:ea typeface="Libre Baskerville Bold"/>
                          <a:cs typeface="Libre Baskerville Bold"/>
                          <a:sym typeface="Libre Baskerville Bold"/>
                        </a:rPr>
                        <a:t>A Novel Method to Estimate Tilt Angle of a Body using a Pendulum</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Libre Baskerville"/>
                          <a:ea typeface="Libre Baskerville"/>
                          <a:cs typeface="Libre Baskerville"/>
                          <a:sym typeface="Libre Baskerville"/>
                          <a:hlinkClick r:id="rId2" tooltip="https://arxiv.org/search/cs?searchtype=author&amp;query=Suresh,+A"/>
                        </a:rPr>
                        <a:t>Anandhu Suresh</a:t>
                      </a:r>
                      <a:r>
                        <a:rPr lang="en-US" sz="2499">
                          <a:solidFill>
                            <a:srgbClr val="000000"/>
                          </a:solidFill>
                          <a:latin typeface="Libre Baskerville"/>
                          <a:ea typeface="Libre Baskerville"/>
                          <a:cs typeface="Libre Baskerville"/>
                          <a:sym typeface="Libre Baskerville"/>
                        </a:rPr>
                        <a:t>, </a:t>
                      </a:r>
                      <a:r>
                        <a:rPr lang="en-US" sz="2499">
                          <a:solidFill>
                            <a:srgbClr val="000000"/>
                          </a:solidFill>
                          <a:latin typeface="Libre Baskerville"/>
                          <a:ea typeface="Libre Baskerville"/>
                          <a:cs typeface="Libre Baskerville"/>
                          <a:sym typeface="Libre Baskerville"/>
                          <a:hlinkClick r:id="rId3" tooltip="https://arxiv.org/search/cs?searchtype=author&amp;query=Raju,+K+V+M"/>
                        </a:rPr>
                        <a:t>Karnam Venkata Manga Raju</a:t>
                      </a:r>
                      <a:r>
                        <a:rPr lang="en-US" sz="2499">
                          <a:solidFill>
                            <a:srgbClr val="000000"/>
                          </a:solidFill>
                          <a:latin typeface="Libre Baskerville"/>
                          <a:ea typeface="Libre Baskerville"/>
                          <a:cs typeface="Libre Baskerville"/>
                          <a:sym typeface="Libre Baskerville"/>
                        </a:rPr>
                        <a:t>,2022</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Main Idea: Introduces a pendulum as an inertial measurement sensor. Develops different algorithms using the pendulum to estimate tilt.</a:t>
                      </a:r>
                      <a:endParaRPr lang="en-US" sz="1100"/>
                    </a:p>
                    <a:p>
                      <a:pPr algn="ctr">
                        <a:lnSpc>
                          <a:spcPts val="2940"/>
                        </a:lnSpc>
                      </a:pPr>
                      <a:endParaRPr lang="en-US" sz="1100"/>
                    </a:p>
                    <a:p>
                      <a:pPr algn="ctr">
                        <a:lnSpc>
                          <a:spcPts val="2940"/>
                        </a:lnSpc>
                      </a:pPr>
                      <a:r>
                        <a:rPr lang="en-US" sz="2100">
                          <a:solidFill>
                            <a:srgbClr val="000000"/>
                          </a:solidFill>
                          <a:latin typeface="Libre Baskerville"/>
                          <a:ea typeface="Libre Baskerville"/>
                          <a:cs typeface="Libre Baskerville"/>
                          <a:sym typeface="Libre Baskerville"/>
                        </a:rPr>
                        <a:t>Relevance: Confirms feasibility of a purely electromechanical pendulum sensor (potentiometer) for tilt feedback</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https://arxiv.org/abs/2202.00388</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0"/>
                  </a:ext>
                </a:extLst>
              </a:tr>
              <a:tr h="4115598">
                <a:tc>
                  <a:txBody>
                    <a:bodyPr/>
                    <a:lstStyle/>
                    <a:p>
                      <a:pPr algn="ctr">
                        <a:lnSpc>
                          <a:spcPts val="3639"/>
                        </a:lnSpc>
                        <a:defRPr/>
                      </a:pPr>
                      <a:r>
                        <a:rPr lang="en-US" sz="2599" b="1">
                          <a:solidFill>
                            <a:srgbClr val="000000"/>
                          </a:solidFill>
                          <a:latin typeface="Libre Baskerville Bold"/>
                          <a:ea typeface="Libre Baskerville Bold"/>
                          <a:cs typeface="Libre Baskerville Bold"/>
                          <a:sym typeface="Libre Baskerville Bold"/>
                        </a:rPr>
                        <a:t>Hardware Implementation and Performance Study of</a:t>
                      </a:r>
                      <a:endParaRPr lang="en-US" sz="1100"/>
                    </a:p>
                    <a:p>
                      <a:pPr algn="ctr">
                        <a:lnSpc>
                          <a:spcPts val="3639"/>
                        </a:lnSpc>
                      </a:pPr>
                      <a:r>
                        <a:rPr lang="en-US" sz="2599" b="1">
                          <a:solidFill>
                            <a:srgbClr val="000000"/>
                          </a:solidFill>
                          <a:latin typeface="Libre Baskerville Bold"/>
                          <a:ea typeface="Libre Baskerville Bold"/>
                          <a:cs typeface="Libre Baskerville Bold"/>
                          <a:sym typeface="Libre Baskerville Bold"/>
                        </a:rPr>
                        <a:t>Analog PID Controllers on DC Motor</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Libre Baskerville"/>
                          <a:ea typeface="Libre Baskerville"/>
                          <a:cs typeface="Libre Baskerville"/>
                          <a:sym typeface="Libre Baskerville"/>
                          <a:hlinkClick r:id="rId4" tooltip="https://www.researchgate.net/profile/Dina-John-2?_tp=eyJjb250ZXh0Ijp7ImZpcnN0UGFnZSI6InB1YmxpY2F0aW9uIiwicGFnZSI6InB1YmxpY2F0aW9uIn19"/>
                        </a:rPr>
                        <a:t>Dina Anna John</a:t>
                      </a:r>
                      <a:r>
                        <a:rPr lang="en-US" sz="2499">
                          <a:solidFill>
                            <a:srgbClr val="000000"/>
                          </a:solidFill>
                          <a:latin typeface="Libre Baskerville"/>
                          <a:ea typeface="Libre Baskerville"/>
                          <a:cs typeface="Libre Baskerville"/>
                          <a:sym typeface="Libre Baskerville"/>
                        </a:rPr>
                        <a:t>, </a:t>
                      </a:r>
                      <a:r>
                        <a:rPr lang="en-US" sz="2499">
                          <a:solidFill>
                            <a:srgbClr val="000000"/>
                          </a:solidFill>
                          <a:latin typeface="Libre Baskerville"/>
                          <a:ea typeface="Libre Baskerville"/>
                          <a:cs typeface="Libre Baskerville"/>
                          <a:sym typeface="Libre Baskerville"/>
                          <a:hlinkClick r:id="rId5" tooltip="https://www.researchgate.net/profile/Karabi-Biswas-2?_tp=eyJjb250ZXh0Ijp7ImZpcnN0UGFnZSI6InB1YmxpY2F0aW9uIiwicGFnZSI6InB1YmxpY2F0aW9uIn19"/>
                        </a:rPr>
                        <a:t>Karabi Biswas</a:t>
                      </a:r>
                      <a:r>
                        <a:rPr lang="en-US" sz="2499">
                          <a:solidFill>
                            <a:srgbClr val="000000"/>
                          </a:solidFill>
                          <a:latin typeface="Libre Baskerville"/>
                          <a:ea typeface="Libre Baskerville"/>
                          <a:cs typeface="Libre Baskerville"/>
                          <a:sym typeface="Libre Baskerville"/>
                        </a:rPr>
                        <a:t>, </a:t>
                      </a:r>
                      <a:r>
                        <a:rPr lang="en-US" sz="2499">
                          <a:solidFill>
                            <a:srgbClr val="000000"/>
                          </a:solidFill>
                          <a:latin typeface="Libre Baskerville"/>
                          <a:ea typeface="Libre Baskerville"/>
                          <a:cs typeface="Libre Baskerville"/>
                          <a:sym typeface="Libre Baskerville"/>
                          <a:hlinkClick r:id="rId6" tooltip="https://www.researchgate.net/scientific-contributions/Saket-Sehgal-2177869747?_tp=eyJjb250ZXh0Ijp7ImZpcnN0UGFnZSI6InB1YmxpY2F0aW9uIiwicGFnZSI6InB1YmxpY2F0aW9uIn19"/>
                        </a:rPr>
                        <a:t>Saket Sehgal</a:t>
                      </a:r>
                      <a:r>
                        <a:rPr lang="en-US" sz="2499">
                          <a:solidFill>
                            <a:srgbClr val="000000"/>
                          </a:solidFill>
                          <a:latin typeface="Libre Baskerville"/>
                          <a:ea typeface="Libre Baskerville"/>
                          <a:cs typeface="Libre Baskerville"/>
                          <a:sym typeface="Libre Baskerville"/>
                        </a:rPr>
                        <a:t>,</a:t>
                      </a:r>
                      <a:endParaRPr lang="en-US" sz="1100"/>
                    </a:p>
                    <a:p>
                      <a:pPr algn="ctr">
                        <a:lnSpc>
                          <a:spcPts val="3499"/>
                        </a:lnSpc>
                      </a:pPr>
                      <a:r>
                        <a:rPr lang="en-US" sz="2499">
                          <a:solidFill>
                            <a:srgbClr val="000000"/>
                          </a:solidFill>
                          <a:latin typeface="Libre Baskerville"/>
                          <a:ea typeface="Libre Baskerville"/>
                          <a:cs typeface="Libre Baskerville"/>
                          <a:sym typeface="Libre Baskerville"/>
                        </a:rPr>
                        <a:t>2020</a:t>
                      </a:r>
                    </a:p>
                    <a:p>
                      <a:pPr algn="ctr">
                        <a:lnSpc>
                          <a:spcPts val="2940"/>
                        </a:lnSpc>
                      </a:pPr>
                      <a:endParaRPr lang="en-US" sz="2499">
                        <a:solidFill>
                          <a:srgbClr val="000000"/>
                        </a:solidFill>
                        <a:latin typeface="Libre Baskerville"/>
                        <a:ea typeface="Libre Baskerville"/>
                        <a:cs typeface="Libre Baskerville"/>
                        <a:sym typeface="Libre Baskerville"/>
                      </a:endParaRP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Libre Baskerville"/>
                          <a:ea typeface="Libre Baskerville"/>
                          <a:cs typeface="Libre Baskerville"/>
                          <a:sym typeface="Libre Baskerville"/>
                        </a:rPr>
                        <a:t>Main Idea: Develops analog fractional PID controllers and implements a DC motor configuration. </a:t>
                      </a:r>
                      <a:endParaRPr lang="en-US" sz="1100"/>
                    </a:p>
                    <a:p>
                      <a:pPr algn="ctr">
                        <a:lnSpc>
                          <a:spcPts val="2940"/>
                        </a:lnSpc>
                      </a:pPr>
                      <a:endParaRPr lang="en-US" sz="1100"/>
                    </a:p>
                    <a:p>
                      <a:pPr algn="ctr">
                        <a:lnSpc>
                          <a:spcPts val="2940"/>
                        </a:lnSpc>
                      </a:pPr>
                      <a:r>
                        <a:rPr lang="en-US" sz="2100">
                          <a:solidFill>
                            <a:srgbClr val="000000"/>
                          </a:solidFill>
                          <a:latin typeface="Libre Baskerville"/>
                          <a:ea typeface="Libre Baskerville"/>
                          <a:cs typeface="Libre Baskerville"/>
                          <a:sym typeface="Libre Baskerville"/>
                        </a:rPr>
                        <a:t>Relevance: Full analog PID realization is performed and explained. A motor driver interface is also designed. </a:t>
                      </a:r>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a:lstStyle/>
                    <a:p>
                      <a:pPr algn="ctr">
                        <a:lnSpc>
                          <a:spcPts val="2940"/>
                        </a:lnSpc>
                        <a:defRPr/>
                      </a:pPr>
                      <a:r>
                        <a:rPr lang="en-US" sz="2100" u="sng">
                          <a:solidFill>
                            <a:srgbClr val="000000"/>
                          </a:solidFill>
                          <a:latin typeface="Libre Baskerville"/>
                          <a:ea typeface="Libre Baskerville"/>
                          <a:cs typeface="Libre Baskerville"/>
                          <a:sym typeface="Libre Baskerville"/>
                        </a:rPr>
                        <a:t>https://www.researchgate.net/publication/342972795_Hardware_Implementation_and_Performance_Study_of_Analog_PIlDm_Controllers_on_DC_Motor</a:t>
                      </a: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0" y="543242"/>
            <a:ext cx="3008659" cy="970915"/>
            <a:chOff x="0" y="0"/>
            <a:chExt cx="792404" cy="255714"/>
          </a:xfrm>
        </p:grpSpPr>
        <p:sp>
          <p:nvSpPr>
            <p:cNvPr id="3" name="Freeform 3"/>
            <p:cNvSpPr/>
            <p:nvPr/>
          </p:nvSpPr>
          <p:spPr>
            <a:xfrm>
              <a:off x="0" y="0"/>
              <a:ext cx="792404" cy="255714"/>
            </a:xfrm>
            <a:custGeom>
              <a:avLst/>
              <a:gdLst/>
              <a:ahLst/>
              <a:cxnLst/>
              <a:rect l="l" t="t" r="r" b="b"/>
              <a:pathLst>
                <a:path w="792404" h="255714">
                  <a:moveTo>
                    <a:pt x="0" y="0"/>
                  </a:moveTo>
                  <a:lnTo>
                    <a:pt x="792404" y="0"/>
                  </a:lnTo>
                  <a:lnTo>
                    <a:pt x="792404" y="255714"/>
                  </a:lnTo>
                  <a:lnTo>
                    <a:pt x="0" y="255714"/>
                  </a:lnTo>
                  <a:close/>
                </a:path>
              </a:pathLst>
            </a:custGeom>
            <a:solidFill>
              <a:srgbClr val="FFFFFF"/>
            </a:solidFill>
          </p:spPr>
        </p:sp>
        <p:sp>
          <p:nvSpPr>
            <p:cNvPr id="4" name="TextBox 4"/>
            <p:cNvSpPr txBox="1"/>
            <p:nvPr/>
          </p:nvSpPr>
          <p:spPr>
            <a:xfrm>
              <a:off x="0" y="-38100"/>
              <a:ext cx="792404" cy="293814"/>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1670196" y="2048831"/>
            <a:ext cx="15253416" cy="7312230"/>
          </a:xfrm>
          <a:prstGeom prst="rect">
            <a:avLst/>
          </a:prstGeom>
        </p:spPr>
        <p:txBody>
          <a:bodyPr lIns="0" tIns="0" rIns="0" bIns="0" rtlCol="0" anchor="t">
            <a:spAutoFit/>
          </a:bodyPr>
          <a:lstStyle/>
          <a:p>
            <a:pPr algn="l">
              <a:lnSpc>
                <a:spcPts val="2448"/>
              </a:lnSpc>
            </a:pPr>
            <a:endParaRPr/>
          </a:p>
          <a:p>
            <a:pPr marL="377646" lvl="1" indent="-188823" algn="l">
              <a:lnSpc>
                <a:spcPts val="2448"/>
              </a:lnSpc>
              <a:buFont typeface="Arial"/>
              <a:buChar char="•"/>
            </a:pPr>
            <a:r>
              <a:rPr lang="en-US" sz="1749">
                <a:solidFill>
                  <a:srgbClr val="000000"/>
                </a:solidFill>
                <a:latin typeface="Libre Baskerville"/>
                <a:ea typeface="Libre Baskerville"/>
                <a:cs typeface="Libre Baskerville"/>
                <a:sym typeface="Libre Baskerville"/>
              </a:rPr>
              <a:t>E. E. Theophilus, "Design of Analog PID Controller," Zenodo, 2018. [Online]. Available: https://zenodo.org/record/1467460       DOI: 10.5281/zenodo.1467460</a:t>
            </a:r>
          </a:p>
          <a:p>
            <a:pPr algn="l">
              <a:lnSpc>
                <a:spcPts val="2448"/>
              </a:lnSpc>
            </a:pPr>
            <a:endParaRPr lang="en-US" sz="1749">
              <a:solidFill>
                <a:srgbClr val="000000"/>
              </a:solidFill>
              <a:latin typeface="Libre Baskerville"/>
              <a:ea typeface="Libre Baskerville"/>
              <a:cs typeface="Libre Baskerville"/>
              <a:sym typeface="Libre Baskerville"/>
            </a:endParaRPr>
          </a:p>
          <a:p>
            <a:pPr marL="377646" lvl="1" indent="-188823" algn="l">
              <a:lnSpc>
                <a:spcPts val="2448"/>
              </a:lnSpc>
              <a:buFont typeface="Arial"/>
              <a:buChar char="•"/>
            </a:pPr>
            <a:r>
              <a:rPr lang="en-US" sz="1749">
                <a:solidFill>
                  <a:srgbClr val="000000"/>
                </a:solidFill>
                <a:latin typeface="Libre Baskerville"/>
                <a:ea typeface="Libre Baskerville"/>
                <a:cs typeface="Libre Baskerville"/>
                <a:sym typeface="Libre Baskerville"/>
              </a:rPr>
              <a:t>N. V. Phuong, N. T. Tuyen, N. D. Khanh and N. N. Hung, "Designing a Robust Control System Based on Sliding Mode Control for Two-axis Gimbal Systems," 2024 Conference of Young Researchers in Electrical and Electronic Engineering (ElCon), Saint Petersburg, Russian Federation, 2024, pp. 455-458, doi: 10.1109/ElCon61730.2024.10468229. keywords: {Robust control;Vibrations;Simulation;Stability analysis;Mathematical models;Task analysis;Sliding mode control;two-axis gimbal;inertially stabilized platform;sliding mode control;self-driving transmission;adaptive},</a:t>
            </a:r>
          </a:p>
          <a:p>
            <a:pPr algn="l">
              <a:lnSpc>
                <a:spcPts val="2448"/>
              </a:lnSpc>
            </a:pPr>
            <a:endParaRPr lang="en-US" sz="1749">
              <a:solidFill>
                <a:srgbClr val="000000"/>
              </a:solidFill>
              <a:latin typeface="Libre Baskerville"/>
              <a:ea typeface="Libre Baskerville"/>
              <a:cs typeface="Libre Baskerville"/>
              <a:sym typeface="Libre Baskerville"/>
            </a:endParaRPr>
          </a:p>
          <a:p>
            <a:pPr marL="377646" lvl="1" indent="-188823" algn="l">
              <a:lnSpc>
                <a:spcPts val="2448"/>
              </a:lnSpc>
              <a:buFont typeface="Arial"/>
              <a:buChar char="•"/>
            </a:pPr>
            <a:r>
              <a:rPr lang="en-US" sz="1749">
                <a:solidFill>
                  <a:srgbClr val="000000"/>
                </a:solidFill>
                <a:latin typeface="Libre Baskerville"/>
                <a:ea typeface="Libre Baskerville"/>
                <a:cs typeface="Libre Baskerville"/>
                <a:sym typeface="Libre Baskerville"/>
              </a:rPr>
              <a:t>N. Murata, H. Matsuno, A. Moran, and M. Hayase, “Control of inverted pendulum-wheeled cart systems using nonlinear observers,” SICE ’95. Proceedings of the 34th SICE Annual Conference. International Session Papers, pp. 1133–1136, 2025, doi: https://doi.org/10.1109/sice.1995.526643.</a:t>
            </a:r>
          </a:p>
          <a:p>
            <a:pPr algn="l">
              <a:lnSpc>
                <a:spcPts val="2448"/>
              </a:lnSpc>
            </a:pPr>
            <a:endParaRPr lang="en-US" sz="1749">
              <a:solidFill>
                <a:srgbClr val="000000"/>
              </a:solidFill>
              <a:latin typeface="Libre Baskerville"/>
              <a:ea typeface="Libre Baskerville"/>
              <a:cs typeface="Libre Baskerville"/>
              <a:sym typeface="Libre Baskerville"/>
            </a:endParaRPr>
          </a:p>
          <a:p>
            <a:pPr marL="377646" lvl="1" indent="-188823" algn="l">
              <a:lnSpc>
                <a:spcPts val="2448"/>
              </a:lnSpc>
              <a:buFont typeface="Arial"/>
              <a:buChar char="•"/>
            </a:pPr>
            <a:r>
              <a:rPr lang="en-US" sz="1749">
                <a:solidFill>
                  <a:srgbClr val="000000"/>
                </a:solidFill>
                <a:latin typeface="Libre Baskerville"/>
                <a:ea typeface="Libre Baskerville"/>
                <a:cs typeface="Libre Baskerville"/>
                <a:sym typeface="Libre Baskerville"/>
              </a:rPr>
              <a:t>A. Godfrey, T. Hourigan, and G. M. Olaighin, “Pendulum analysis of an integrated accelerometer to assess its suitability to measure dynamic acceleration for gait applications,” Annual International Conference of the IEEE Engineering in Medicine and Biology Society. IEEE Engineering in Medicine and Biology Society. Annual International Conference, vol. 2007, pp. 4891–4, 2007, doi: https://doi.org/10.1109/IEMBS.2007.4353436.</a:t>
            </a:r>
          </a:p>
          <a:p>
            <a:pPr algn="l">
              <a:lnSpc>
                <a:spcPts val="2879"/>
              </a:lnSpc>
            </a:pPr>
            <a:endParaRPr lang="en-US" sz="1749">
              <a:solidFill>
                <a:srgbClr val="000000"/>
              </a:solidFill>
              <a:latin typeface="Libre Baskerville"/>
              <a:ea typeface="Libre Baskerville"/>
              <a:cs typeface="Libre Baskerville"/>
              <a:sym typeface="Libre Baskerville"/>
            </a:endParaRPr>
          </a:p>
          <a:p>
            <a:pPr marL="377646" lvl="1" indent="-188823" algn="l">
              <a:lnSpc>
                <a:spcPts val="2448"/>
              </a:lnSpc>
              <a:spcBef>
                <a:spcPct val="0"/>
              </a:spcBef>
              <a:buFont typeface="Arial"/>
              <a:buChar char="•"/>
            </a:pPr>
            <a:r>
              <a:rPr lang="en-US" sz="1749">
                <a:solidFill>
                  <a:srgbClr val="000000"/>
                </a:solidFill>
                <a:latin typeface="Libre Baskerville"/>
                <a:ea typeface="Libre Baskerville"/>
                <a:cs typeface="Libre Baskerville"/>
                <a:sym typeface="Libre Baskerville"/>
              </a:rPr>
              <a:t>A. Suresh and Raju, “A Novel Method to Estimate Tilt Angle of a Body using a Pendulum,” arXiv.org, 2022. https://arxiv.org/abs/2202.00388 (accessed Jul. 28, 2025).</a:t>
            </a:r>
          </a:p>
          <a:p>
            <a:pPr algn="l">
              <a:lnSpc>
                <a:spcPts val="2448"/>
              </a:lnSpc>
              <a:spcBef>
                <a:spcPct val="0"/>
              </a:spcBef>
            </a:pPr>
            <a:endParaRPr lang="en-US" sz="1749">
              <a:solidFill>
                <a:srgbClr val="000000"/>
              </a:solidFill>
              <a:latin typeface="Libre Baskerville"/>
              <a:ea typeface="Libre Baskerville"/>
              <a:cs typeface="Libre Baskerville"/>
              <a:sym typeface="Libre Baskerville"/>
            </a:endParaRPr>
          </a:p>
          <a:p>
            <a:pPr marL="377646" lvl="1" indent="-188823" algn="l">
              <a:lnSpc>
                <a:spcPts val="2448"/>
              </a:lnSpc>
              <a:spcBef>
                <a:spcPct val="0"/>
              </a:spcBef>
              <a:buFont typeface="Arial"/>
              <a:buChar char="•"/>
            </a:pPr>
            <a:r>
              <a:rPr lang="en-US" sz="1749">
                <a:solidFill>
                  <a:srgbClr val="000000"/>
                </a:solidFill>
                <a:latin typeface="Libre Baskerville"/>
                <a:ea typeface="Libre Baskerville"/>
                <a:cs typeface="Libre Baskerville"/>
                <a:sym typeface="Libre Baskerville"/>
              </a:rPr>
              <a:t>John, Dina &amp; Sehgal, Saket &amp; Biswas, Karabi. (2020). Hardware Implementation and Performance Study of Analog PID Controllers on DC Motor. Fractal and Fractional. 4. 34. 10.3390/fractalfract4030034. </a:t>
            </a:r>
          </a:p>
        </p:txBody>
      </p:sp>
      <p:sp>
        <p:nvSpPr>
          <p:cNvPr id="6" name="TextBox 6"/>
          <p:cNvSpPr txBox="1"/>
          <p:nvPr/>
        </p:nvSpPr>
        <p:spPr>
          <a:xfrm>
            <a:off x="3709156" y="428942"/>
            <a:ext cx="10607040" cy="1085215"/>
          </a:xfrm>
          <a:prstGeom prst="rect">
            <a:avLst/>
          </a:prstGeom>
        </p:spPr>
        <p:txBody>
          <a:bodyPr lIns="0" tIns="0" rIns="0" bIns="0" rtlCol="0" anchor="t">
            <a:spAutoFit/>
          </a:bodyPr>
          <a:lstStyle/>
          <a:p>
            <a:pPr algn="l">
              <a:lnSpc>
                <a:spcPts val="8959"/>
              </a:lnSpc>
              <a:spcBef>
                <a:spcPct val="0"/>
              </a:spcBef>
            </a:pPr>
            <a:r>
              <a:rPr lang="en-US" sz="6399" b="1">
                <a:solidFill>
                  <a:srgbClr val="061313"/>
                </a:solidFill>
                <a:latin typeface="Libre Baskerville Bold"/>
                <a:ea typeface="Libre Baskerville Bold"/>
                <a:cs typeface="Libre Baskerville Bold"/>
                <a:sym typeface="Libre Baskerville Bold"/>
              </a:rPr>
              <a:t>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grpSp>
        <p:nvGrpSpPr>
          <p:cNvPr id="2" name="Group 2"/>
          <p:cNvGrpSpPr/>
          <p:nvPr/>
        </p:nvGrpSpPr>
        <p:grpSpPr>
          <a:xfrm>
            <a:off x="15608652" y="-793466"/>
            <a:ext cx="1650648" cy="3086100"/>
            <a:chOff x="0" y="0"/>
            <a:chExt cx="434738" cy="812800"/>
          </a:xfrm>
        </p:grpSpPr>
        <p:sp>
          <p:nvSpPr>
            <p:cNvPr id="3" name="Freeform 3"/>
            <p:cNvSpPr/>
            <p:nvPr/>
          </p:nvSpPr>
          <p:spPr>
            <a:xfrm>
              <a:off x="0" y="0"/>
              <a:ext cx="434738" cy="812800"/>
            </a:xfrm>
            <a:custGeom>
              <a:avLst/>
              <a:gdLst/>
              <a:ahLst/>
              <a:cxnLst/>
              <a:rect l="l" t="t" r="r" b="b"/>
              <a:pathLst>
                <a:path w="434738" h="812800">
                  <a:moveTo>
                    <a:pt x="0" y="0"/>
                  </a:moveTo>
                  <a:lnTo>
                    <a:pt x="434738" y="0"/>
                  </a:lnTo>
                  <a:lnTo>
                    <a:pt x="434738" y="812800"/>
                  </a:lnTo>
                  <a:lnTo>
                    <a:pt x="0" y="812800"/>
                  </a:lnTo>
                  <a:close/>
                </a:path>
              </a:pathLst>
            </a:custGeom>
            <a:solidFill>
              <a:srgbClr val="FFFFFF"/>
            </a:solidFill>
          </p:spPr>
        </p:sp>
        <p:sp>
          <p:nvSpPr>
            <p:cNvPr id="4" name="TextBox 4"/>
            <p:cNvSpPr txBox="1"/>
            <p:nvPr/>
          </p:nvSpPr>
          <p:spPr>
            <a:xfrm>
              <a:off x="0" y="-38100"/>
              <a:ext cx="434738" cy="850900"/>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3840480" y="3818624"/>
            <a:ext cx="10607040" cy="1783714"/>
          </a:xfrm>
          <a:prstGeom prst="rect">
            <a:avLst/>
          </a:prstGeom>
        </p:spPr>
        <p:txBody>
          <a:bodyPr lIns="0" tIns="0" rIns="0" bIns="0" rtlCol="0" anchor="t">
            <a:spAutoFit/>
          </a:bodyPr>
          <a:lstStyle/>
          <a:p>
            <a:pPr algn="l">
              <a:lnSpc>
                <a:spcPts val="14560"/>
              </a:lnSpc>
              <a:spcBef>
                <a:spcPct val="0"/>
              </a:spcBef>
            </a:pPr>
            <a:r>
              <a:rPr lang="en-US" sz="10400" b="1">
                <a:solidFill>
                  <a:srgbClr val="061313"/>
                </a:solidFill>
                <a:latin typeface="Libre Baskerville Bold"/>
                <a:ea typeface="Libre Baskerville Bold"/>
                <a:cs typeface="Libre Baskerville Bold"/>
                <a:sym typeface="Libre Baskerville Bold"/>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1121</Words>
  <Application>Microsoft Office PowerPoint</Application>
  <PresentationFormat>Custom</PresentationFormat>
  <Paragraphs>81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Libre Baskerville Bold</vt:lpstr>
      <vt:lpstr>Arimo</vt:lpstr>
      <vt:lpstr>Arimo Bold</vt:lpstr>
      <vt:lpstr>Calibri</vt:lpstr>
      <vt:lpstr>Libre Baskerville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stabilization using pid controller</dc:title>
  <cp:lastModifiedBy>Ashwin S</cp:lastModifiedBy>
  <cp:revision>2</cp:revision>
  <dcterms:created xsi:type="dcterms:W3CDTF">2006-08-16T00:00:00Z</dcterms:created>
  <dcterms:modified xsi:type="dcterms:W3CDTF">2025-07-29T08:38:14Z</dcterms:modified>
  <dc:identifier>DAGt4J7ofJw</dc:identifier>
</cp:coreProperties>
</file>