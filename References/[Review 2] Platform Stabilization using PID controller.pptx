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ibre Baskerville Bold" charset="1" panose="02000000000000000000"/>
      <p:regular r:id="rId19"/>
    </p:embeddedFont>
    <p:embeddedFont>
      <p:font typeface="Libre Baskerville" charset="1" panose="02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15608652" y="-793466"/>
            <a:ext cx="1650648" cy="3086100"/>
            <a:chOff x="0" y="0"/>
            <a:chExt cx="434738" cy="812800"/>
          </a:xfrm>
        </p:grpSpPr>
        <p:sp>
          <p:nvSpPr>
            <p:cNvPr name="Freeform 3" id="3"/>
            <p:cNvSpPr/>
            <p:nvPr/>
          </p:nvSpPr>
          <p:spPr>
            <a:xfrm flipH="false" flipV="false" rot="0">
              <a:off x="0" y="0"/>
              <a:ext cx="434738" cy="812800"/>
            </a:xfrm>
            <a:custGeom>
              <a:avLst/>
              <a:gdLst/>
              <a:ahLst/>
              <a:cxnLst/>
              <a:rect r="r" b="b" t="t" l="l"/>
              <a:pathLst>
                <a:path h="812800" w="434738">
                  <a:moveTo>
                    <a:pt x="0" y="0"/>
                  </a:moveTo>
                  <a:lnTo>
                    <a:pt x="434738" y="0"/>
                  </a:lnTo>
                  <a:lnTo>
                    <a:pt x="434738" y="812800"/>
                  </a:lnTo>
                  <a:lnTo>
                    <a:pt x="0" y="812800"/>
                  </a:lnTo>
                  <a:close/>
                </a:path>
              </a:pathLst>
            </a:custGeom>
            <a:solidFill>
              <a:srgbClr val="FFFFFF"/>
            </a:solidFill>
          </p:spPr>
        </p:sp>
        <p:sp>
          <p:nvSpPr>
            <p:cNvPr name="TextBox 4" id="4"/>
            <p:cNvSpPr txBox="true"/>
            <p:nvPr/>
          </p:nvSpPr>
          <p:spPr>
            <a:xfrm>
              <a:off x="0" y="-38100"/>
              <a:ext cx="434738" cy="850900"/>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367206" y="2528458"/>
            <a:ext cx="15553588" cy="3631564"/>
          </a:xfrm>
          <a:prstGeom prst="rect">
            <a:avLst/>
          </a:prstGeom>
        </p:spPr>
        <p:txBody>
          <a:bodyPr anchor="t" rtlCol="false" tIns="0" lIns="0" bIns="0" rIns="0">
            <a:spAutoFit/>
          </a:bodyPr>
          <a:lstStyle/>
          <a:p>
            <a:pPr algn="l">
              <a:lnSpc>
                <a:spcPts val="14560"/>
              </a:lnSpc>
              <a:spcBef>
                <a:spcPct val="0"/>
              </a:spcBef>
            </a:pPr>
            <a:r>
              <a:rPr lang="en-US" sz="10400" b="true">
                <a:solidFill>
                  <a:srgbClr val="061313"/>
                </a:solidFill>
                <a:latin typeface="Libre Baskerville Bold"/>
                <a:ea typeface="Libre Baskerville Bold"/>
                <a:cs typeface="Libre Baskerville Bold"/>
                <a:sym typeface="Libre Baskerville Bold"/>
              </a:rPr>
              <a:t>Platform Stabilization using PID Controller</a:t>
            </a:r>
          </a:p>
        </p:txBody>
      </p:sp>
      <p:sp>
        <p:nvSpPr>
          <p:cNvPr name="TextBox 6" id="6"/>
          <p:cNvSpPr txBox="true"/>
          <p:nvPr/>
        </p:nvSpPr>
        <p:spPr>
          <a:xfrm rot="0">
            <a:off x="3218489" y="7492240"/>
            <a:ext cx="11851023" cy="1766060"/>
          </a:xfrm>
          <a:prstGeom prst="rect">
            <a:avLst/>
          </a:prstGeom>
        </p:spPr>
        <p:txBody>
          <a:bodyPr anchor="t" rtlCol="false" tIns="0" lIns="0" bIns="0" rIns="0">
            <a:spAutoFit/>
          </a:bodyPr>
          <a:lstStyle/>
          <a:p>
            <a:pPr algn="l">
              <a:lnSpc>
                <a:spcPts val="4830"/>
              </a:lnSpc>
            </a:pPr>
            <a:r>
              <a:rPr lang="en-US" sz="3450">
                <a:solidFill>
                  <a:srgbClr val="061313"/>
                </a:solidFill>
                <a:latin typeface="Libre Baskerville"/>
                <a:ea typeface="Libre Baskerville"/>
                <a:cs typeface="Libre Baskerville"/>
                <a:sym typeface="Libre Baskerville"/>
              </a:rPr>
              <a:t>Ashwin S - CB.EN.U4ECE23106</a:t>
            </a:r>
          </a:p>
          <a:p>
            <a:pPr algn="l">
              <a:lnSpc>
                <a:spcPts val="4830"/>
              </a:lnSpc>
            </a:pPr>
            <a:r>
              <a:rPr lang="en-US" sz="3450">
                <a:solidFill>
                  <a:srgbClr val="061313"/>
                </a:solidFill>
                <a:latin typeface="Libre Baskerville"/>
                <a:ea typeface="Libre Baskerville"/>
                <a:cs typeface="Libre Baskerville"/>
                <a:sym typeface="Libre Baskerville"/>
              </a:rPr>
              <a:t>Kaushal Soundararajan - CB.EN.U4ECE23125</a:t>
            </a:r>
          </a:p>
          <a:p>
            <a:pPr algn="l" marL="0" indent="0" lvl="0">
              <a:lnSpc>
                <a:spcPts val="4830"/>
              </a:lnSpc>
              <a:spcBef>
                <a:spcPct val="0"/>
              </a:spcBef>
            </a:pPr>
            <a:r>
              <a:rPr lang="en-US" sz="3450">
                <a:solidFill>
                  <a:srgbClr val="061313"/>
                </a:solidFill>
                <a:latin typeface="Libre Baskerville"/>
                <a:ea typeface="Libre Baskerville"/>
                <a:cs typeface="Libre Baskerville"/>
                <a:sym typeface="Libre Baskerville"/>
              </a:rPr>
              <a:t>Nidhil Remila Shivakumaran - CB.EN.U4ECE23129</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3458836" y="2023163"/>
            <a:ext cx="763288" cy="76328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0">
            <a:off x="3458836" y="4761856"/>
            <a:ext cx="763288" cy="76328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0" y="543242"/>
            <a:ext cx="3008659" cy="970915"/>
            <a:chOff x="0" y="0"/>
            <a:chExt cx="792404" cy="255714"/>
          </a:xfrm>
        </p:grpSpPr>
        <p:sp>
          <p:nvSpPr>
            <p:cNvPr name="Freeform 9" id="9"/>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10" id="10"/>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3458836" y="2966076"/>
            <a:ext cx="14063113" cy="1471930"/>
          </a:xfrm>
          <a:prstGeom prst="rect">
            <a:avLst/>
          </a:prstGeom>
        </p:spPr>
        <p:txBody>
          <a:bodyPr anchor="t" rtlCol="false" tIns="0" lIns="0" bIns="0" rIns="0">
            <a:spAutoFit/>
          </a:bodyPr>
          <a:lstStyle/>
          <a:p>
            <a:pPr algn="l">
              <a:lnSpc>
                <a:spcPts val="3919"/>
              </a:lnSpc>
            </a:pPr>
            <a:r>
              <a:rPr lang="en-US" sz="2799" strike="noStrike" u="none">
                <a:solidFill>
                  <a:srgbClr val="061313"/>
                </a:solidFill>
                <a:latin typeface="Libre Baskerville"/>
                <a:ea typeface="Libre Baskerville"/>
                <a:cs typeface="Libre Baskerville"/>
                <a:sym typeface="Libre Baskerville"/>
              </a:rPr>
              <a:t>To design and implement a platform stabilization system using a PID controller to maintain the platform’s desired orientation despite external disturbances.</a:t>
            </a:r>
          </a:p>
        </p:txBody>
      </p:sp>
      <p:sp>
        <p:nvSpPr>
          <p:cNvPr name="TextBox 12" id="12"/>
          <p:cNvSpPr txBox="true"/>
          <p:nvPr/>
        </p:nvSpPr>
        <p:spPr>
          <a:xfrm rot="0">
            <a:off x="3458836" y="5792551"/>
            <a:ext cx="13630420" cy="2462530"/>
          </a:xfrm>
          <a:prstGeom prst="rect">
            <a:avLst/>
          </a:prstGeom>
        </p:spPr>
        <p:txBody>
          <a:bodyPr anchor="t" rtlCol="false" tIns="0" lIns="0" bIns="0" rIns="0">
            <a:spAutoFit/>
          </a:bodyPr>
          <a:lstStyle/>
          <a:p>
            <a:pPr algn="l">
              <a:lnSpc>
                <a:spcPts val="3919"/>
              </a:lnSpc>
            </a:pPr>
            <a:r>
              <a:rPr lang="en-US" sz="2799">
                <a:solidFill>
                  <a:srgbClr val="061313"/>
                </a:solidFill>
                <a:latin typeface="Libre Baskerville"/>
                <a:ea typeface="Libre Baskerville"/>
                <a:cs typeface="Libre Baskerville"/>
                <a:sym typeface="Libre Baskerville"/>
              </a:rPr>
              <a:t>To design a pendulum based mechanical sensor with connection to a potentiometer to provide real time tilt measurements of the platform. This sensor will generate a signal proportional to the platform’s deviation from desired orientation, which will be used as the input to the PID controller.</a:t>
            </a:r>
          </a:p>
        </p:txBody>
      </p:sp>
      <p:sp>
        <p:nvSpPr>
          <p:cNvPr name="TextBox 13" id="13"/>
          <p:cNvSpPr txBox="true"/>
          <p:nvPr/>
        </p:nvSpPr>
        <p:spPr>
          <a:xfrm rot="0">
            <a:off x="3458836" y="2187638"/>
            <a:ext cx="763288" cy="396240"/>
          </a:xfrm>
          <a:prstGeom prst="rect">
            <a:avLst/>
          </a:prstGeom>
        </p:spPr>
        <p:txBody>
          <a:bodyPr anchor="t" rtlCol="false" tIns="0" lIns="0" bIns="0" rIns="0">
            <a:spAutoFit/>
          </a:bodyPr>
          <a:lstStyle/>
          <a:p>
            <a:pPr algn="ctr">
              <a:lnSpc>
                <a:spcPts val="3359"/>
              </a:lnSpc>
            </a:pPr>
            <a:r>
              <a:rPr lang="en-US" b="true" sz="2400">
                <a:solidFill>
                  <a:srgbClr val="061313"/>
                </a:solidFill>
                <a:latin typeface="Libre Baskerville Bold"/>
                <a:ea typeface="Libre Baskerville Bold"/>
                <a:cs typeface="Libre Baskerville Bold"/>
                <a:sym typeface="Libre Baskerville Bold"/>
              </a:rPr>
              <a:t>1</a:t>
            </a:r>
          </a:p>
        </p:txBody>
      </p:sp>
      <p:sp>
        <p:nvSpPr>
          <p:cNvPr name="TextBox 14" id="14"/>
          <p:cNvSpPr txBox="true"/>
          <p:nvPr/>
        </p:nvSpPr>
        <p:spPr>
          <a:xfrm rot="0">
            <a:off x="3458836" y="4926330"/>
            <a:ext cx="763288" cy="396240"/>
          </a:xfrm>
          <a:prstGeom prst="rect">
            <a:avLst/>
          </a:prstGeom>
        </p:spPr>
        <p:txBody>
          <a:bodyPr anchor="t" rtlCol="false" tIns="0" lIns="0" bIns="0" rIns="0">
            <a:spAutoFit/>
          </a:bodyPr>
          <a:lstStyle/>
          <a:p>
            <a:pPr algn="ctr">
              <a:lnSpc>
                <a:spcPts val="3359"/>
              </a:lnSpc>
            </a:pPr>
            <a:r>
              <a:rPr lang="en-US" b="true" sz="2400">
                <a:solidFill>
                  <a:srgbClr val="061313"/>
                </a:solidFill>
                <a:latin typeface="Libre Baskerville Bold"/>
                <a:ea typeface="Libre Baskerville Bold"/>
                <a:cs typeface="Libre Baskerville Bold"/>
                <a:sym typeface="Libre Baskerville Bold"/>
              </a:rPr>
              <a:t>2</a:t>
            </a:r>
          </a:p>
        </p:txBody>
      </p:sp>
      <p:sp>
        <p:nvSpPr>
          <p:cNvPr name="TextBox 15" id="15"/>
          <p:cNvSpPr txBox="true"/>
          <p:nvPr/>
        </p:nvSpPr>
        <p:spPr>
          <a:xfrm rot="0">
            <a:off x="3458836"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Objectives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3458836" y="4807321"/>
            <a:ext cx="763288" cy="76328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0">
            <a:off x="3458836" y="6863460"/>
            <a:ext cx="763288" cy="76328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0" y="543242"/>
            <a:ext cx="3008659" cy="970915"/>
            <a:chOff x="0" y="0"/>
            <a:chExt cx="792404" cy="255714"/>
          </a:xfrm>
        </p:grpSpPr>
        <p:sp>
          <p:nvSpPr>
            <p:cNvPr name="Freeform 9" id="9"/>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10" id="10"/>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3458836" y="5682360"/>
            <a:ext cx="13800464" cy="1019175"/>
          </a:xfrm>
          <a:prstGeom prst="rect">
            <a:avLst/>
          </a:prstGeom>
        </p:spPr>
        <p:txBody>
          <a:bodyPr anchor="t" rtlCol="false" tIns="0" lIns="0" bIns="0" rIns="0">
            <a:spAutoFit/>
          </a:bodyPr>
          <a:lstStyle/>
          <a:p>
            <a:pPr algn="l">
              <a:lnSpc>
                <a:spcPts val="4199"/>
              </a:lnSpc>
            </a:pPr>
            <a:r>
              <a:rPr lang="en-US" sz="2999">
                <a:solidFill>
                  <a:srgbClr val="061313"/>
                </a:solidFill>
                <a:latin typeface="Libre Baskerville"/>
                <a:ea typeface="Libre Baskerville"/>
                <a:cs typeface="Libre Baskerville"/>
                <a:sym typeface="Libre Baskerville"/>
              </a:rPr>
              <a:t>To design a motor configuration to control the orientation of the platform on 2 axis based on the output of the PID controller. </a:t>
            </a:r>
          </a:p>
        </p:txBody>
      </p:sp>
      <p:sp>
        <p:nvSpPr>
          <p:cNvPr name="TextBox 12" id="12"/>
          <p:cNvSpPr txBox="true"/>
          <p:nvPr/>
        </p:nvSpPr>
        <p:spPr>
          <a:xfrm rot="0">
            <a:off x="3458836" y="4971795"/>
            <a:ext cx="763288" cy="396240"/>
          </a:xfrm>
          <a:prstGeom prst="rect">
            <a:avLst/>
          </a:prstGeom>
        </p:spPr>
        <p:txBody>
          <a:bodyPr anchor="t" rtlCol="false" tIns="0" lIns="0" bIns="0" rIns="0">
            <a:spAutoFit/>
          </a:bodyPr>
          <a:lstStyle/>
          <a:p>
            <a:pPr algn="ctr">
              <a:lnSpc>
                <a:spcPts val="3359"/>
              </a:lnSpc>
            </a:pPr>
            <a:r>
              <a:rPr lang="en-US" b="true" sz="2400">
                <a:solidFill>
                  <a:srgbClr val="061313"/>
                </a:solidFill>
                <a:latin typeface="Libre Baskerville Bold"/>
                <a:ea typeface="Libre Baskerville Bold"/>
                <a:cs typeface="Libre Baskerville Bold"/>
                <a:sym typeface="Libre Baskerville Bold"/>
              </a:rPr>
              <a:t>4</a:t>
            </a:r>
          </a:p>
        </p:txBody>
      </p:sp>
      <p:sp>
        <p:nvSpPr>
          <p:cNvPr name="TextBox 13" id="13"/>
          <p:cNvSpPr txBox="true"/>
          <p:nvPr/>
        </p:nvSpPr>
        <p:spPr>
          <a:xfrm rot="0">
            <a:off x="3458836" y="7027935"/>
            <a:ext cx="763288" cy="396240"/>
          </a:xfrm>
          <a:prstGeom prst="rect">
            <a:avLst/>
          </a:prstGeom>
        </p:spPr>
        <p:txBody>
          <a:bodyPr anchor="t" rtlCol="false" tIns="0" lIns="0" bIns="0" rIns="0">
            <a:spAutoFit/>
          </a:bodyPr>
          <a:lstStyle/>
          <a:p>
            <a:pPr algn="ctr">
              <a:lnSpc>
                <a:spcPts val="3359"/>
              </a:lnSpc>
            </a:pPr>
            <a:r>
              <a:rPr lang="en-US" b="true" sz="2400">
                <a:solidFill>
                  <a:srgbClr val="061313"/>
                </a:solidFill>
                <a:latin typeface="Libre Baskerville Bold"/>
                <a:ea typeface="Libre Baskerville Bold"/>
                <a:cs typeface="Libre Baskerville Bold"/>
                <a:sym typeface="Libre Baskerville Bold"/>
              </a:rPr>
              <a:t>5</a:t>
            </a:r>
          </a:p>
        </p:txBody>
      </p:sp>
      <p:sp>
        <p:nvSpPr>
          <p:cNvPr name="TextBox 14" id="14"/>
          <p:cNvSpPr txBox="true"/>
          <p:nvPr/>
        </p:nvSpPr>
        <p:spPr>
          <a:xfrm rot="0">
            <a:off x="3458836"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Objectives</a:t>
            </a:r>
          </a:p>
        </p:txBody>
      </p:sp>
      <p:sp>
        <p:nvSpPr>
          <p:cNvPr name="TextBox 15" id="15"/>
          <p:cNvSpPr txBox="true"/>
          <p:nvPr/>
        </p:nvSpPr>
        <p:spPr>
          <a:xfrm rot="0">
            <a:off x="3458836" y="7731760"/>
            <a:ext cx="13800464" cy="1526540"/>
          </a:xfrm>
          <a:prstGeom prst="rect">
            <a:avLst/>
          </a:prstGeom>
        </p:spPr>
        <p:txBody>
          <a:bodyPr anchor="t" rtlCol="false" tIns="0" lIns="0" bIns="0" rIns="0">
            <a:spAutoFit/>
          </a:bodyPr>
          <a:lstStyle/>
          <a:p>
            <a:pPr algn="l">
              <a:lnSpc>
                <a:spcPts val="4059"/>
              </a:lnSpc>
            </a:pPr>
            <a:r>
              <a:rPr lang="en-US" sz="2899">
                <a:solidFill>
                  <a:srgbClr val="061313"/>
                </a:solidFill>
                <a:latin typeface="Libre Baskerville"/>
                <a:ea typeface="Libre Baskerville"/>
                <a:cs typeface="Libre Baskerville"/>
                <a:sym typeface="Libre Baskerville"/>
              </a:rPr>
              <a:t>To implement the PID controller circuit in combination with the mechanical pendulum sensor and motor configuration to perform platform stabilization. </a:t>
            </a:r>
          </a:p>
        </p:txBody>
      </p:sp>
      <p:sp>
        <p:nvSpPr>
          <p:cNvPr name="TextBox 16" id="16"/>
          <p:cNvSpPr txBox="true"/>
          <p:nvPr/>
        </p:nvSpPr>
        <p:spPr>
          <a:xfrm rot="0">
            <a:off x="3458836" y="2973441"/>
            <a:ext cx="13800464" cy="1471930"/>
          </a:xfrm>
          <a:prstGeom prst="rect">
            <a:avLst/>
          </a:prstGeom>
        </p:spPr>
        <p:txBody>
          <a:bodyPr anchor="t" rtlCol="false" tIns="0" lIns="0" bIns="0" rIns="0">
            <a:spAutoFit/>
          </a:bodyPr>
          <a:lstStyle/>
          <a:p>
            <a:pPr algn="l">
              <a:lnSpc>
                <a:spcPts val="3919"/>
              </a:lnSpc>
            </a:pPr>
            <a:r>
              <a:rPr lang="en-US" sz="2799">
                <a:solidFill>
                  <a:srgbClr val="061313"/>
                </a:solidFill>
                <a:latin typeface="Libre Baskerville"/>
                <a:ea typeface="Libre Baskerville"/>
                <a:cs typeface="Libre Baskerville"/>
                <a:sym typeface="Libre Baskerville"/>
              </a:rPr>
              <a:t>To develop an efficient PID controller with suitable proportional gain (Kp), Integral Gain (Ki) and Differential Gain (Kd) to achieve accurate platform stabilization.</a:t>
            </a:r>
          </a:p>
        </p:txBody>
      </p:sp>
      <p:grpSp>
        <p:nvGrpSpPr>
          <p:cNvPr name="Group 17" id="17"/>
          <p:cNvGrpSpPr/>
          <p:nvPr/>
        </p:nvGrpSpPr>
        <p:grpSpPr>
          <a:xfrm rot="0">
            <a:off x="3458836" y="2105377"/>
            <a:ext cx="763288" cy="76328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3458836" y="2269851"/>
            <a:ext cx="763288" cy="396240"/>
          </a:xfrm>
          <a:prstGeom prst="rect">
            <a:avLst/>
          </a:prstGeom>
        </p:spPr>
        <p:txBody>
          <a:bodyPr anchor="t" rtlCol="false" tIns="0" lIns="0" bIns="0" rIns="0">
            <a:spAutoFit/>
          </a:bodyPr>
          <a:lstStyle/>
          <a:p>
            <a:pPr algn="ctr">
              <a:lnSpc>
                <a:spcPts val="3359"/>
              </a:lnSpc>
            </a:pPr>
            <a:r>
              <a:rPr lang="en-US" b="true" sz="2400">
                <a:solidFill>
                  <a:srgbClr val="061313"/>
                </a:solidFill>
                <a:latin typeface="Libre Baskerville Bold"/>
                <a:ea typeface="Libre Baskerville Bold"/>
                <a:cs typeface="Libre Baskerville Bold"/>
                <a:sym typeface="Libre Baskerville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2088454" y="1719322"/>
            <a:ext cx="14111093" cy="8184434"/>
          </a:xfrm>
          <a:custGeom>
            <a:avLst/>
            <a:gdLst/>
            <a:ahLst/>
            <a:cxnLst/>
            <a:rect r="r" b="b" t="t" l="l"/>
            <a:pathLst>
              <a:path h="8184434" w="14111093">
                <a:moveTo>
                  <a:pt x="0" y="0"/>
                </a:moveTo>
                <a:lnTo>
                  <a:pt x="14111092" y="0"/>
                </a:lnTo>
                <a:lnTo>
                  <a:pt x="14111092" y="8184434"/>
                </a:lnTo>
                <a:lnTo>
                  <a:pt x="0" y="8184434"/>
                </a:lnTo>
                <a:lnTo>
                  <a:pt x="0" y="0"/>
                </a:lnTo>
                <a:close/>
              </a:path>
            </a:pathLst>
          </a:custGeom>
          <a:blipFill>
            <a:blip r:embed="rId2"/>
            <a:stretch>
              <a:fillRect l="0" t="0" r="0" b="0"/>
            </a:stretch>
          </a:blipFill>
        </p:spPr>
      </p:sp>
      <p:sp>
        <p:nvSpPr>
          <p:cNvPr name="TextBox 6" id="6"/>
          <p:cNvSpPr txBox="true"/>
          <p:nvPr/>
        </p:nvSpPr>
        <p:spPr>
          <a:xfrm rot="0">
            <a:off x="3840480"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Block Diagram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3534057"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Circuit Diagram </a:t>
            </a:r>
          </a:p>
        </p:txBody>
      </p:sp>
      <p:sp>
        <p:nvSpPr>
          <p:cNvPr name="Freeform 6" id="6"/>
          <p:cNvSpPr/>
          <p:nvPr/>
        </p:nvSpPr>
        <p:spPr>
          <a:xfrm flipH="false" flipV="false" rot="0">
            <a:off x="829593" y="1758210"/>
            <a:ext cx="16628814" cy="8272835"/>
          </a:xfrm>
          <a:custGeom>
            <a:avLst/>
            <a:gdLst/>
            <a:ahLst/>
            <a:cxnLst/>
            <a:rect r="r" b="b" t="t" l="l"/>
            <a:pathLst>
              <a:path h="8272835" w="16628814">
                <a:moveTo>
                  <a:pt x="0" y="0"/>
                </a:moveTo>
                <a:lnTo>
                  <a:pt x="16628814" y="0"/>
                </a:lnTo>
                <a:lnTo>
                  <a:pt x="16628814" y="8272835"/>
                </a:lnTo>
                <a:lnTo>
                  <a:pt x="0" y="8272835"/>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AutoShape 5" id="5"/>
          <p:cNvSpPr/>
          <p:nvPr/>
        </p:nvSpPr>
        <p:spPr>
          <a:xfrm flipH="true">
            <a:off x="9144000" y="1876266"/>
            <a:ext cx="0" cy="8198719"/>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508131" y="3424556"/>
            <a:ext cx="8329445" cy="5963285"/>
          </a:xfrm>
          <a:prstGeom prst="rect">
            <a:avLst/>
          </a:prstGeom>
        </p:spPr>
        <p:txBody>
          <a:bodyPr anchor="t" rtlCol="false" tIns="0" lIns="0" bIns="0" rIns="0">
            <a:spAutoFit/>
          </a:bodyPr>
          <a:lstStyle/>
          <a:p>
            <a:pPr algn="l" marL="561339"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Proportional Path: </a:t>
            </a:r>
          </a:p>
          <a:p>
            <a:pPr algn="l">
              <a:lnSpc>
                <a:spcPts val="3639"/>
              </a:lnSpc>
            </a:pPr>
            <a:r>
              <a:rPr lang="en-US" sz="2599" spc="285">
                <a:solidFill>
                  <a:srgbClr val="061313"/>
                </a:solidFill>
                <a:latin typeface="Libre Baskerville"/>
                <a:ea typeface="Libre Baskerville"/>
                <a:cs typeface="Libre Baskerville"/>
                <a:sym typeface="Libre Baskerville"/>
              </a:rPr>
              <a:t>     </a:t>
            </a:r>
          </a:p>
          <a:p>
            <a:pPr algn="l">
              <a:lnSpc>
                <a:spcPts val="3639"/>
              </a:lnSpc>
            </a:pPr>
          </a:p>
          <a:p>
            <a:pPr algn="l" marL="561339"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Integral Path:</a:t>
            </a:r>
          </a:p>
          <a:p>
            <a:pPr algn="l">
              <a:lnSpc>
                <a:spcPts val="3639"/>
              </a:lnSpc>
            </a:pPr>
          </a:p>
          <a:p>
            <a:pPr algn="l">
              <a:lnSpc>
                <a:spcPts val="3639"/>
              </a:lnSpc>
            </a:pPr>
          </a:p>
          <a:p>
            <a:pPr algn="l">
              <a:lnSpc>
                <a:spcPts val="3925"/>
              </a:lnSpc>
            </a:pPr>
            <a:r>
              <a:rPr lang="en-US" sz="2599" spc="288">
                <a:solidFill>
                  <a:srgbClr val="061313"/>
                </a:solidFill>
                <a:latin typeface="Libre Baskerville"/>
                <a:ea typeface="Libre Baskerville"/>
                <a:cs typeface="Libre Baskerville"/>
                <a:sym typeface="Libre Baskerville"/>
              </a:rPr>
              <a:t>     </a:t>
            </a:r>
          </a:p>
          <a:p>
            <a:pPr algn="l" marL="561339"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Differential Path:</a:t>
            </a:r>
          </a:p>
          <a:p>
            <a:pPr algn="l">
              <a:lnSpc>
                <a:spcPts val="3639"/>
              </a:lnSpc>
            </a:pPr>
          </a:p>
          <a:p>
            <a:pPr algn="l">
              <a:lnSpc>
                <a:spcPts val="3639"/>
              </a:lnSpc>
            </a:pPr>
          </a:p>
          <a:p>
            <a:pPr algn="l" marL="561339"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Summing Junction:</a:t>
            </a:r>
          </a:p>
          <a:p>
            <a:pPr algn="l">
              <a:lnSpc>
                <a:spcPts val="3639"/>
              </a:lnSpc>
            </a:pPr>
            <a:r>
              <a:rPr lang="en-US" sz="2599" spc="285">
                <a:solidFill>
                  <a:srgbClr val="061313"/>
                </a:solidFill>
                <a:latin typeface="Libre Baskerville"/>
                <a:ea typeface="Libre Baskerville"/>
                <a:cs typeface="Libre Baskerville"/>
                <a:sym typeface="Libre Baskerville"/>
              </a:rPr>
              <a:t>    A summer opamp is used to combine the P, I and D outputs. </a:t>
            </a:r>
          </a:p>
        </p:txBody>
      </p:sp>
      <p:sp>
        <p:nvSpPr>
          <p:cNvPr name="Freeform 7" id="7"/>
          <p:cNvSpPr/>
          <p:nvPr/>
        </p:nvSpPr>
        <p:spPr>
          <a:xfrm flipH="false" flipV="false" rot="0">
            <a:off x="1028700" y="5379987"/>
            <a:ext cx="6431310" cy="1101557"/>
          </a:xfrm>
          <a:custGeom>
            <a:avLst/>
            <a:gdLst/>
            <a:ahLst/>
            <a:cxnLst/>
            <a:rect r="r" b="b" t="t" l="l"/>
            <a:pathLst>
              <a:path h="1101557" w="6431310">
                <a:moveTo>
                  <a:pt x="0" y="0"/>
                </a:moveTo>
                <a:lnTo>
                  <a:pt x="6431310" y="0"/>
                </a:lnTo>
                <a:lnTo>
                  <a:pt x="6431310" y="1101557"/>
                </a:lnTo>
                <a:lnTo>
                  <a:pt x="0" y="1101557"/>
                </a:lnTo>
                <a:lnTo>
                  <a:pt x="0" y="0"/>
                </a:lnTo>
                <a:close/>
              </a:path>
            </a:pathLst>
          </a:custGeom>
          <a:blipFill>
            <a:blip r:embed="rId2"/>
            <a:stretch>
              <a:fillRect l="0" t="0" r="0" b="0"/>
            </a:stretch>
          </a:blipFill>
        </p:spPr>
      </p:sp>
      <p:sp>
        <p:nvSpPr>
          <p:cNvPr name="Freeform 8" id="8"/>
          <p:cNvSpPr/>
          <p:nvPr/>
        </p:nvSpPr>
        <p:spPr>
          <a:xfrm flipH="false" flipV="false" rot="0">
            <a:off x="1028700" y="4077627"/>
            <a:ext cx="6989952" cy="495456"/>
          </a:xfrm>
          <a:custGeom>
            <a:avLst/>
            <a:gdLst/>
            <a:ahLst/>
            <a:cxnLst/>
            <a:rect r="r" b="b" t="t" l="l"/>
            <a:pathLst>
              <a:path h="495456" w="6989952">
                <a:moveTo>
                  <a:pt x="0" y="0"/>
                </a:moveTo>
                <a:lnTo>
                  <a:pt x="6989952" y="0"/>
                </a:lnTo>
                <a:lnTo>
                  <a:pt x="6989952" y="495456"/>
                </a:lnTo>
                <a:lnTo>
                  <a:pt x="0" y="495456"/>
                </a:lnTo>
                <a:lnTo>
                  <a:pt x="0" y="0"/>
                </a:lnTo>
                <a:close/>
              </a:path>
            </a:pathLst>
          </a:custGeom>
          <a:blipFill>
            <a:blip r:embed="rId3"/>
            <a:stretch>
              <a:fillRect l="0" t="0" r="0" b="0"/>
            </a:stretch>
          </a:blipFill>
        </p:spPr>
      </p:sp>
      <p:sp>
        <p:nvSpPr>
          <p:cNvPr name="Freeform 9" id="9"/>
          <p:cNvSpPr/>
          <p:nvPr/>
        </p:nvSpPr>
        <p:spPr>
          <a:xfrm flipH="false" flipV="false" rot="0">
            <a:off x="1028700" y="7288449"/>
            <a:ext cx="6139025" cy="728146"/>
          </a:xfrm>
          <a:custGeom>
            <a:avLst/>
            <a:gdLst/>
            <a:ahLst/>
            <a:cxnLst/>
            <a:rect r="r" b="b" t="t" l="l"/>
            <a:pathLst>
              <a:path h="728146" w="6139025">
                <a:moveTo>
                  <a:pt x="0" y="0"/>
                </a:moveTo>
                <a:lnTo>
                  <a:pt x="6139025" y="0"/>
                </a:lnTo>
                <a:lnTo>
                  <a:pt x="6139025" y="728146"/>
                </a:lnTo>
                <a:lnTo>
                  <a:pt x="0" y="728146"/>
                </a:lnTo>
                <a:lnTo>
                  <a:pt x="0" y="0"/>
                </a:lnTo>
                <a:close/>
              </a:path>
            </a:pathLst>
          </a:custGeom>
          <a:blipFill>
            <a:blip r:embed="rId4"/>
            <a:stretch>
              <a:fillRect l="0" t="0" r="0" b="0"/>
            </a:stretch>
          </a:blipFill>
        </p:spPr>
      </p:sp>
      <p:sp>
        <p:nvSpPr>
          <p:cNvPr name="Freeform 10" id="10"/>
          <p:cNvSpPr/>
          <p:nvPr/>
        </p:nvSpPr>
        <p:spPr>
          <a:xfrm flipH="false" flipV="false" rot="0">
            <a:off x="9416662" y="2433406"/>
            <a:ext cx="8337691" cy="1353649"/>
          </a:xfrm>
          <a:custGeom>
            <a:avLst/>
            <a:gdLst/>
            <a:ahLst/>
            <a:cxnLst/>
            <a:rect r="r" b="b" t="t" l="l"/>
            <a:pathLst>
              <a:path h="1353649" w="8337691">
                <a:moveTo>
                  <a:pt x="0" y="0"/>
                </a:moveTo>
                <a:lnTo>
                  <a:pt x="8337691" y="0"/>
                </a:lnTo>
                <a:lnTo>
                  <a:pt x="8337691" y="1353649"/>
                </a:lnTo>
                <a:lnTo>
                  <a:pt x="0" y="1353649"/>
                </a:lnTo>
                <a:lnTo>
                  <a:pt x="0" y="0"/>
                </a:lnTo>
                <a:close/>
              </a:path>
            </a:pathLst>
          </a:custGeom>
          <a:blipFill>
            <a:blip r:embed="rId5"/>
            <a:stretch>
              <a:fillRect l="0" t="0" r="0" b="0"/>
            </a:stretch>
          </a:blipFill>
        </p:spPr>
      </p:sp>
      <p:sp>
        <p:nvSpPr>
          <p:cNvPr name="TextBox 11" id="11"/>
          <p:cNvSpPr txBox="true"/>
          <p:nvPr/>
        </p:nvSpPr>
        <p:spPr>
          <a:xfrm rot="0">
            <a:off x="3534057"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Design </a:t>
            </a:r>
          </a:p>
        </p:txBody>
      </p:sp>
      <p:sp>
        <p:nvSpPr>
          <p:cNvPr name="TextBox 12" id="12"/>
          <p:cNvSpPr txBox="true"/>
          <p:nvPr/>
        </p:nvSpPr>
        <p:spPr>
          <a:xfrm rot="0">
            <a:off x="508131" y="1828641"/>
            <a:ext cx="7127324" cy="495301"/>
          </a:xfrm>
          <a:prstGeom prst="rect">
            <a:avLst/>
          </a:prstGeom>
        </p:spPr>
        <p:txBody>
          <a:bodyPr anchor="t" rtlCol="false" tIns="0" lIns="0" bIns="0" rIns="0">
            <a:spAutoFit/>
          </a:bodyPr>
          <a:lstStyle/>
          <a:p>
            <a:pPr algn="ctr">
              <a:lnSpc>
                <a:spcPts val="4199"/>
              </a:lnSpc>
              <a:spcBef>
                <a:spcPct val="0"/>
              </a:spcBef>
            </a:pPr>
            <a:r>
              <a:rPr lang="en-US" b="true" sz="2999" spc="329" u="sng">
                <a:solidFill>
                  <a:srgbClr val="061313"/>
                </a:solidFill>
                <a:latin typeface="Libre Baskerville Bold"/>
                <a:ea typeface="Libre Baskerville Bold"/>
                <a:cs typeface="Libre Baskerville Bold"/>
                <a:sym typeface="Libre Baskerville Bold"/>
              </a:rPr>
              <a:t>PID CONTROLLER CIRCUIT</a:t>
            </a:r>
          </a:p>
        </p:txBody>
      </p:sp>
      <p:sp>
        <p:nvSpPr>
          <p:cNvPr name="TextBox 13" id="13"/>
          <p:cNvSpPr txBox="true"/>
          <p:nvPr/>
        </p:nvSpPr>
        <p:spPr>
          <a:xfrm rot="0">
            <a:off x="415860" y="2628900"/>
            <a:ext cx="7311866" cy="481330"/>
          </a:xfrm>
          <a:prstGeom prst="rect">
            <a:avLst/>
          </a:prstGeom>
        </p:spPr>
        <p:txBody>
          <a:bodyPr anchor="t" rtlCol="false" tIns="0" lIns="0" bIns="0" rIns="0">
            <a:spAutoFit/>
          </a:bodyPr>
          <a:lstStyle/>
          <a:p>
            <a:pPr algn="l" marL="604516" indent="-302258" lvl="1">
              <a:lnSpc>
                <a:spcPts val="3919"/>
              </a:lnSpc>
              <a:spcBef>
                <a:spcPct val="0"/>
              </a:spcBef>
              <a:buAutoNum type="arabicPeriod" startAt="1"/>
            </a:pPr>
            <a:r>
              <a:rPr lang="en-US" sz="2799" spc="307">
                <a:solidFill>
                  <a:srgbClr val="061313"/>
                </a:solidFill>
                <a:latin typeface="Libre Baskerville"/>
                <a:ea typeface="Libre Baskerville"/>
                <a:cs typeface="Libre Baskerville"/>
                <a:sym typeface="Libre Baskerville"/>
              </a:rPr>
              <a:t>Main Blocks of PID controller </a:t>
            </a:r>
          </a:p>
        </p:txBody>
      </p:sp>
      <p:sp>
        <p:nvSpPr>
          <p:cNvPr name="TextBox 14" id="14"/>
          <p:cNvSpPr txBox="true"/>
          <p:nvPr/>
        </p:nvSpPr>
        <p:spPr>
          <a:xfrm rot="0">
            <a:off x="9416662" y="1842611"/>
            <a:ext cx="4614505" cy="481330"/>
          </a:xfrm>
          <a:prstGeom prst="rect">
            <a:avLst/>
          </a:prstGeom>
        </p:spPr>
        <p:txBody>
          <a:bodyPr anchor="t" rtlCol="false" tIns="0" lIns="0" bIns="0" rIns="0">
            <a:spAutoFit/>
          </a:bodyPr>
          <a:lstStyle/>
          <a:p>
            <a:pPr algn="l">
              <a:lnSpc>
                <a:spcPts val="3919"/>
              </a:lnSpc>
              <a:spcBef>
                <a:spcPct val="0"/>
              </a:spcBef>
            </a:pPr>
            <a:r>
              <a:rPr lang="en-US" sz="2799" spc="307">
                <a:solidFill>
                  <a:srgbClr val="061313"/>
                </a:solidFill>
                <a:latin typeface="Libre Baskerville"/>
                <a:ea typeface="Libre Baskerville"/>
                <a:cs typeface="Libre Baskerville"/>
                <a:sym typeface="Libre Baskerville"/>
              </a:rPr>
              <a:t>2. Transfer Function </a:t>
            </a:r>
          </a:p>
        </p:txBody>
      </p:sp>
      <p:sp>
        <p:nvSpPr>
          <p:cNvPr name="TextBox 15" id="15"/>
          <p:cNvSpPr txBox="true"/>
          <p:nvPr/>
        </p:nvSpPr>
        <p:spPr>
          <a:xfrm rot="0">
            <a:off x="9416662" y="4030002"/>
            <a:ext cx="8871338" cy="5925185"/>
          </a:xfrm>
          <a:prstGeom prst="rect">
            <a:avLst/>
          </a:prstGeom>
        </p:spPr>
        <p:txBody>
          <a:bodyPr anchor="t" rtlCol="false" tIns="0" lIns="0" bIns="0" rIns="0">
            <a:spAutoFit/>
          </a:bodyPr>
          <a:lstStyle/>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The function C(S) represents the transfer function of the PID circuit in the Laplacian domain. </a:t>
            </a:r>
          </a:p>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The values of Kp, Kd and Ki are the proportional, differential and integral gains. </a:t>
            </a:r>
          </a:p>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These values can be varied to tune the PID controller to give optimal results.</a:t>
            </a:r>
          </a:p>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Kp gives the response to current error.</a:t>
            </a:r>
          </a:p>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Kd gives the response to rate of change of error.</a:t>
            </a:r>
          </a:p>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Ki gives the response to accumulated  error.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AutoShape 5" id="5"/>
          <p:cNvSpPr/>
          <p:nvPr/>
        </p:nvSpPr>
        <p:spPr>
          <a:xfrm flipH="true">
            <a:off x="9144000" y="1876266"/>
            <a:ext cx="0" cy="8198719"/>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508131" y="3334151"/>
            <a:ext cx="8174356" cy="905807"/>
          </a:xfrm>
          <a:custGeom>
            <a:avLst/>
            <a:gdLst/>
            <a:ahLst/>
            <a:cxnLst/>
            <a:rect r="r" b="b" t="t" l="l"/>
            <a:pathLst>
              <a:path h="905807" w="8174356">
                <a:moveTo>
                  <a:pt x="0" y="0"/>
                </a:moveTo>
                <a:lnTo>
                  <a:pt x="8174356" y="0"/>
                </a:lnTo>
                <a:lnTo>
                  <a:pt x="8174356" y="905807"/>
                </a:lnTo>
                <a:lnTo>
                  <a:pt x="0" y="905807"/>
                </a:lnTo>
                <a:lnTo>
                  <a:pt x="0" y="0"/>
                </a:lnTo>
                <a:close/>
              </a:path>
            </a:pathLst>
          </a:custGeom>
          <a:blipFill>
            <a:blip r:embed="rId2"/>
            <a:stretch>
              <a:fillRect l="0" t="0" r="0" b="0"/>
            </a:stretch>
          </a:blipFill>
        </p:spPr>
      </p:sp>
      <p:sp>
        <p:nvSpPr>
          <p:cNvPr name="Freeform 7" id="7"/>
          <p:cNvSpPr/>
          <p:nvPr/>
        </p:nvSpPr>
        <p:spPr>
          <a:xfrm flipH="false" flipV="false" rot="0">
            <a:off x="9455348" y="2499539"/>
            <a:ext cx="7218292" cy="1554424"/>
          </a:xfrm>
          <a:custGeom>
            <a:avLst/>
            <a:gdLst/>
            <a:ahLst/>
            <a:cxnLst/>
            <a:rect r="r" b="b" t="t" l="l"/>
            <a:pathLst>
              <a:path h="1554424" w="7218292">
                <a:moveTo>
                  <a:pt x="0" y="0"/>
                </a:moveTo>
                <a:lnTo>
                  <a:pt x="7218292" y="0"/>
                </a:lnTo>
                <a:lnTo>
                  <a:pt x="7218292" y="1554423"/>
                </a:lnTo>
                <a:lnTo>
                  <a:pt x="0" y="1554423"/>
                </a:lnTo>
                <a:lnTo>
                  <a:pt x="0" y="0"/>
                </a:lnTo>
                <a:close/>
              </a:path>
            </a:pathLst>
          </a:custGeom>
          <a:blipFill>
            <a:blip r:embed="rId3"/>
            <a:stretch>
              <a:fillRect l="-535" t="-841" r="0" b="0"/>
            </a:stretch>
          </a:blipFill>
        </p:spPr>
      </p:sp>
      <p:sp>
        <p:nvSpPr>
          <p:cNvPr name="Freeform 8" id="8"/>
          <p:cNvSpPr/>
          <p:nvPr/>
        </p:nvSpPr>
        <p:spPr>
          <a:xfrm flipH="false" flipV="false" rot="0">
            <a:off x="9455348" y="6150098"/>
            <a:ext cx="8617385" cy="472526"/>
          </a:xfrm>
          <a:custGeom>
            <a:avLst/>
            <a:gdLst/>
            <a:ahLst/>
            <a:cxnLst/>
            <a:rect r="r" b="b" t="t" l="l"/>
            <a:pathLst>
              <a:path h="472526" w="8617385">
                <a:moveTo>
                  <a:pt x="0" y="0"/>
                </a:moveTo>
                <a:lnTo>
                  <a:pt x="8617385" y="0"/>
                </a:lnTo>
                <a:lnTo>
                  <a:pt x="8617385" y="472526"/>
                </a:lnTo>
                <a:lnTo>
                  <a:pt x="0" y="472526"/>
                </a:lnTo>
                <a:lnTo>
                  <a:pt x="0" y="0"/>
                </a:lnTo>
                <a:close/>
              </a:path>
            </a:pathLst>
          </a:custGeom>
          <a:blipFill>
            <a:blip r:embed="rId4"/>
            <a:stretch>
              <a:fillRect l="0" t="0" r="0" b="0"/>
            </a:stretch>
          </a:blipFill>
        </p:spPr>
      </p:sp>
      <p:sp>
        <p:nvSpPr>
          <p:cNvPr name="Freeform 9" id="9"/>
          <p:cNvSpPr/>
          <p:nvPr/>
        </p:nvSpPr>
        <p:spPr>
          <a:xfrm flipH="false" flipV="false" rot="0">
            <a:off x="9416662" y="7362200"/>
            <a:ext cx="8656071" cy="488430"/>
          </a:xfrm>
          <a:custGeom>
            <a:avLst/>
            <a:gdLst/>
            <a:ahLst/>
            <a:cxnLst/>
            <a:rect r="r" b="b" t="t" l="l"/>
            <a:pathLst>
              <a:path h="488430" w="8656071">
                <a:moveTo>
                  <a:pt x="0" y="0"/>
                </a:moveTo>
                <a:lnTo>
                  <a:pt x="8656071" y="0"/>
                </a:lnTo>
                <a:lnTo>
                  <a:pt x="8656071" y="488430"/>
                </a:lnTo>
                <a:lnTo>
                  <a:pt x="0" y="488430"/>
                </a:lnTo>
                <a:lnTo>
                  <a:pt x="0" y="0"/>
                </a:lnTo>
                <a:close/>
              </a:path>
            </a:pathLst>
          </a:custGeom>
          <a:blipFill>
            <a:blip r:embed="rId5"/>
            <a:stretch>
              <a:fillRect l="0" t="0" r="0" b="0"/>
            </a:stretch>
          </a:blipFill>
        </p:spPr>
      </p:sp>
      <p:sp>
        <p:nvSpPr>
          <p:cNvPr name="TextBox 10" id="10"/>
          <p:cNvSpPr txBox="true"/>
          <p:nvPr/>
        </p:nvSpPr>
        <p:spPr>
          <a:xfrm rot="0">
            <a:off x="415860" y="4380250"/>
            <a:ext cx="8174356" cy="5906750"/>
          </a:xfrm>
          <a:prstGeom prst="rect">
            <a:avLst/>
          </a:prstGeom>
        </p:spPr>
        <p:txBody>
          <a:bodyPr anchor="t" rtlCol="false" tIns="0" lIns="0" bIns="0" rIns="0">
            <a:spAutoFit/>
          </a:bodyPr>
          <a:lstStyle/>
          <a:p>
            <a:pPr algn="l" marL="550887" indent="-275443" lvl="1">
              <a:lnSpc>
                <a:spcPts val="3572"/>
              </a:lnSpc>
              <a:buFont typeface="Arial"/>
              <a:buChar char="•"/>
            </a:pPr>
            <a:r>
              <a:rPr lang="en-US" sz="2551" spc="280">
                <a:solidFill>
                  <a:srgbClr val="061313"/>
                </a:solidFill>
                <a:latin typeface="Libre Baskerville"/>
                <a:ea typeface="Libre Baskerville"/>
                <a:cs typeface="Libre Baskerville"/>
                <a:sym typeface="Libre Baskerville"/>
              </a:rPr>
              <a:t>The transfer function G(S) represents the general transfer function of a DC motor with armature. </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Theta(S) is the position of the platform.</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Va(S) is the armature voltage of the DC motor.</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J = Rotor intertia</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B = Viscous friction coefficient</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La = Armature inductance</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Ra = Armature resistance</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Kt = Torque constant</a:t>
            </a:r>
          </a:p>
          <a:p>
            <a:pPr algn="l" marL="561341" indent="-280670" lvl="1">
              <a:lnSpc>
                <a:spcPts val="3640"/>
              </a:lnSpc>
              <a:buFont typeface="Arial"/>
              <a:buChar char="•"/>
            </a:pPr>
            <a:r>
              <a:rPr lang="en-US" sz="2600" spc="286">
                <a:solidFill>
                  <a:srgbClr val="061313"/>
                </a:solidFill>
                <a:latin typeface="Libre Baskerville"/>
                <a:ea typeface="Libre Baskerville"/>
                <a:cs typeface="Libre Baskerville"/>
                <a:sym typeface="Libre Baskerville"/>
              </a:rPr>
              <a:t>Kb = Back EMF constant</a:t>
            </a:r>
          </a:p>
        </p:txBody>
      </p:sp>
      <p:sp>
        <p:nvSpPr>
          <p:cNvPr name="TextBox 11" id="11"/>
          <p:cNvSpPr txBox="true"/>
          <p:nvPr/>
        </p:nvSpPr>
        <p:spPr>
          <a:xfrm rot="0">
            <a:off x="3534057"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Design </a:t>
            </a:r>
          </a:p>
        </p:txBody>
      </p:sp>
      <p:sp>
        <p:nvSpPr>
          <p:cNvPr name="TextBox 12" id="12"/>
          <p:cNvSpPr txBox="true"/>
          <p:nvPr/>
        </p:nvSpPr>
        <p:spPr>
          <a:xfrm rot="0">
            <a:off x="508131" y="1828641"/>
            <a:ext cx="7510521" cy="495301"/>
          </a:xfrm>
          <a:prstGeom prst="rect">
            <a:avLst/>
          </a:prstGeom>
        </p:spPr>
        <p:txBody>
          <a:bodyPr anchor="t" rtlCol="false" tIns="0" lIns="0" bIns="0" rIns="0">
            <a:spAutoFit/>
          </a:bodyPr>
          <a:lstStyle/>
          <a:p>
            <a:pPr algn="ctr">
              <a:lnSpc>
                <a:spcPts val="4199"/>
              </a:lnSpc>
              <a:spcBef>
                <a:spcPct val="0"/>
              </a:spcBef>
            </a:pPr>
            <a:r>
              <a:rPr lang="en-US" b="true" sz="2999" spc="329" u="sng">
                <a:solidFill>
                  <a:srgbClr val="061313"/>
                </a:solidFill>
                <a:latin typeface="Libre Baskerville Bold"/>
                <a:ea typeface="Libre Baskerville Bold"/>
                <a:cs typeface="Libre Baskerville Bold"/>
                <a:sym typeface="Libre Baskerville Bold"/>
              </a:rPr>
              <a:t>ACTUATION PHASE CIRCUIT</a:t>
            </a:r>
          </a:p>
        </p:txBody>
      </p:sp>
      <p:sp>
        <p:nvSpPr>
          <p:cNvPr name="TextBox 13" id="13"/>
          <p:cNvSpPr txBox="true"/>
          <p:nvPr/>
        </p:nvSpPr>
        <p:spPr>
          <a:xfrm rot="0">
            <a:off x="415860" y="2628900"/>
            <a:ext cx="4556165" cy="481330"/>
          </a:xfrm>
          <a:prstGeom prst="rect">
            <a:avLst/>
          </a:prstGeom>
        </p:spPr>
        <p:txBody>
          <a:bodyPr anchor="t" rtlCol="false" tIns="0" lIns="0" bIns="0" rIns="0">
            <a:spAutoFit/>
          </a:bodyPr>
          <a:lstStyle/>
          <a:p>
            <a:pPr algn="l" marL="604516" indent="-302258" lvl="1">
              <a:lnSpc>
                <a:spcPts val="3919"/>
              </a:lnSpc>
              <a:spcBef>
                <a:spcPct val="0"/>
              </a:spcBef>
              <a:buAutoNum type="arabicPeriod" startAt="1"/>
            </a:pPr>
            <a:r>
              <a:rPr lang="en-US" sz="2799" spc="307">
                <a:solidFill>
                  <a:srgbClr val="061313"/>
                </a:solidFill>
                <a:latin typeface="Libre Baskerville"/>
                <a:ea typeface="Libre Baskerville"/>
                <a:cs typeface="Libre Baskerville"/>
                <a:sym typeface="Libre Baskerville"/>
              </a:rPr>
              <a:t>Transfer Function</a:t>
            </a:r>
          </a:p>
        </p:txBody>
      </p:sp>
      <p:sp>
        <p:nvSpPr>
          <p:cNvPr name="TextBox 14" id="14"/>
          <p:cNvSpPr txBox="true"/>
          <p:nvPr/>
        </p:nvSpPr>
        <p:spPr>
          <a:xfrm rot="0">
            <a:off x="9416662" y="1842611"/>
            <a:ext cx="7256979" cy="481330"/>
          </a:xfrm>
          <a:prstGeom prst="rect">
            <a:avLst/>
          </a:prstGeom>
        </p:spPr>
        <p:txBody>
          <a:bodyPr anchor="t" rtlCol="false" tIns="0" lIns="0" bIns="0" rIns="0">
            <a:spAutoFit/>
          </a:bodyPr>
          <a:lstStyle/>
          <a:p>
            <a:pPr algn="l">
              <a:lnSpc>
                <a:spcPts val="3919"/>
              </a:lnSpc>
              <a:spcBef>
                <a:spcPct val="0"/>
              </a:spcBef>
            </a:pPr>
            <a:r>
              <a:rPr lang="en-US" sz="2799" spc="307">
                <a:solidFill>
                  <a:srgbClr val="061313"/>
                </a:solidFill>
                <a:latin typeface="Libre Baskerville"/>
                <a:ea typeface="Libre Baskerville"/>
                <a:cs typeface="Libre Baskerville"/>
                <a:sym typeface="Libre Baskerville"/>
              </a:rPr>
              <a:t>2. Closed loop Transfer Function</a:t>
            </a:r>
          </a:p>
        </p:txBody>
      </p:sp>
      <p:sp>
        <p:nvSpPr>
          <p:cNvPr name="TextBox 15" id="15"/>
          <p:cNvSpPr txBox="true"/>
          <p:nvPr/>
        </p:nvSpPr>
        <p:spPr>
          <a:xfrm rot="0">
            <a:off x="9416662" y="4168262"/>
            <a:ext cx="8871338" cy="1810385"/>
          </a:xfrm>
          <a:prstGeom prst="rect">
            <a:avLst/>
          </a:prstGeom>
        </p:spPr>
        <p:txBody>
          <a:bodyPr anchor="t" rtlCol="false" tIns="0" lIns="0" bIns="0" rIns="0">
            <a:spAutoFit/>
          </a:bodyPr>
          <a:lstStyle/>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This transfer function defines the whole system and how is responds to signals. </a:t>
            </a:r>
          </a:p>
          <a:p>
            <a:pPr algn="l" marL="561337" indent="-280669" lvl="1">
              <a:lnSpc>
                <a:spcPts val="3639"/>
              </a:lnSpc>
              <a:buFont typeface="Arial"/>
              <a:buChar char="•"/>
            </a:pPr>
            <a:r>
              <a:rPr lang="en-US" sz="2599" spc="285">
                <a:solidFill>
                  <a:srgbClr val="061313"/>
                </a:solidFill>
                <a:latin typeface="Libre Baskerville"/>
                <a:ea typeface="Libre Baskerville"/>
                <a:cs typeface="Libre Baskerville"/>
                <a:sym typeface="Libre Baskerville"/>
              </a:rPr>
              <a:t>The closed loop characteristic equation is obtained by equating 1+C(S)G(S) = 0.</a:t>
            </a:r>
          </a:p>
        </p:txBody>
      </p:sp>
      <p:sp>
        <p:nvSpPr>
          <p:cNvPr name="TextBox 16" id="16"/>
          <p:cNvSpPr txBox="true"/>
          <p:nvPr/>
        </p:nvSpPr>
        <p:spPr>
          <a:xfrm rot="0">
            <a:off x="9416662" y="6755974"/>
            <a:ext cx="8808006" cy="412750"/>
          </a:xfrm>
          <a:prstGeom prst="rect">
            <a:avLst/>
          </a:prstGeom>
        </p:spPr>
        <p:txBody>
          <a:bodyPr anchor="t" rtlCol="false" tIns="0" lIns="0" bIns="0" rIns="0">
            <a:spAutoFit/>
          </a:bodyPr>
          <a:lstStyle/>
          <a:p>
            <a:pPr algn="l" marL="539748" indent="-269874" lvl="1">
              <a:lnSpc>
                <a:spcPts val="3499"/>
              </a:lnSpc>
              <a:buFont typeface="Arial"/>
              <a:buChar char="•"/>
            </a:pPr>
            <a:r>
              <a:rPr lang="en-US" sz="2499" spc="274">
                <a:solidFill>
                  <a:srgbClr val="061313"/>
                </a:solidFill>
                <a:latin typeface="Libre Baskerville"/>
                <a:ea typeface="Libre Baskerville"/>
                <a:cs typeface="Libre Baskerville"/>
                <a:sym typeface="Libre Baskerville"/>
              </a:rPr>
              <a:t>By neglecting La as it is a very small value</a:t>
            </a:r>
          </a:p>
        </p:txBody>
      </p:sp>
      <p:sp>
        <p:nvSpPr>
          <p:cNvPr name="TextBox 17" id="17"/>
          <p:cNvSpPr txBox="true"/>
          <p:nvPr/>
        </p:nvSpPr>
        <p:spPr>
          <a:xfrm rot="0">
            <a:off x="9455348" y="7993505"/>
            <a:ext cx="8617385" cy="2046915"/>
          </a:xfrm>
          <a:prstGeom prst="rect">
            <a:avLst/>
          </a:prstGeom>
        </p:spPr>
        <p:txBody>
          <a:bodyPr anchor="t" rtlCol="false" tIns="0" lIns="0" bIns="0" rIns="0">
            <a:spAutoFit/>
          </a:bodyPr>
          <a:lstStyle/>
          <a:p>
            <a:pPr algn="l" marL="509181" indent="-254590" lvl="1">
              <a:lnSpc>
                <a:spcPts val="3301"/>
              </a:lnSpc>
              <a:buFont typeface="Arial"/>
              <a:buChar char="•"/>
            </a:pPr>
            <a:r>
              <a:rPr lang="en-US" sz="2358" spc="259">
                <a:solidFill>
                  <a:srgbClr val="061313"/>
                </a:solidFill>
                <a:latin typeface="Libre Baskerville"/>
                <a:ea typeface="Libre Baskerville"/>
                <a:cs typeface="Libre Baskerville"/>
                <a:sym typeface="Libre Baskerville"/>
              </a:rPr>
              <a:t>With La the closed loop system has an order of 4. This introduces an extra electrical pole with very low time constant. This pole is dominated by mechanical poles with higher time constant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AutoShape 5" id="5"/>
          <p:cNvSpPr/>
          <p:nvPr/>
        </p:nvSpPr>
        <p:spPr>
          <a:xfrm flipH="true">
            <a:off x="9144000" y="1876266"/>
            <a:ext cx="0" cy="8198719"/>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645394" y="3855045"/>
            <a:ext cx="2888663" cy="784066"/>
          </a:xfrm>
          <a:custGeom>
            <a:avLst/>
            <a:gdLst/>
            <a:ahLst/>
            <a:cxnLst/>
            <a:rect r="r" b="b" t="t" l="l"/>
            <a:pathLst>
              <a:path h="784066" w="2888663">
                <a:moveTo>
                  <a:pt x="0" y="0"/>
                </a:moveTo>
                <a:lnTo>
                  <a:pt x="2888663" y="0"/>
                </a:lnTo>
                <a:lnTo>
                  <a:pt x="2888663" y="784066"/>
                </a:lnTo>
                <a:lnTo>
                  <a:pt x="0" y="784066"/>
                </a:lnTo>
                <a:lnTo>
                  <a:pt x="0" y="0"/>
                </a:lnTo>
                <a:close/>
              </a:path>
            </a:pathLst>
          </a:custGeom>
          <a:blipFill>
            <a:blip r:embed="rId2"/>
            <a:stretch>
              <a:fillRect l="0" t="0" r="0" b="0"/>
            </a:stretch>
          </a:blipFill>
        </p:spPr>
      </p:sp>
      <p:sp>
        <p:nvSpPr>
          <p:cNvPr name="Freeform 7" id="7"/>
          <p:cNvSpPr/>
          <p:nvPr/>
        </p:nvSpPr>
        <p:spPr>
          <a:xfrm flipH="false" flipV="false" rot="0">
            <a:off x="645394" y="4820086"/>
            <a:ext cx="6731143" cy="715184"/>
          </a:xfrm>
          <a:custGeom>
            <a:avLst/>
            <a:gdLst/>
            <a:ahLst/>
            <a:cxnLst/>
            <a:rect r="r" b="b" t="t" l="l"/>
            <a:pathLst>
              <a:path h="715184" w="6731143">
                <a:moveTo>
                  <a:pt x="0" y="0"/>
                </a:moveTo>
                <a:lnTo>
                  <a:pt x="6731143" y="0"/>
                </a:lnTo>
                <a:lnTo>
                  <a:pt x="6731143" y="715184"/>
                </a:lnTo>
                <a:lnTo>
                  <a:pt x="0" y="715184"/>
                </a:lnTo>
                <a:lnTo>
                  <a:pt x="0" y="0"/>
                </a:lnTo>
                <a:close/>
              </a:path>
            </a:pathLst>
          </a:custGeom>
          <a:blipFill>
            <a:blip r:embed="rId3"/>
            <a:stretch>
              <a:fillRect l="0" t="0" r="0" b="0"/>
            </a:stretch>
          </a:blipFill>
        </p:spPr>
      </p:sp>
      <p:sp>
        <p:nvSpPr>
          <p:cNvPr name="Freeform 8" id="8"/>
          <p:cNvSpPr/>
          <p:nvPr/>
        </p:nvSpPr>
        <p:spPr>
          <a:xfrm flipH="false" flipV="false" rot="0">
            <a:off x="645394" y="5716245"/>
            <a:ext cx="2888663" cy="628983"/>
          </a:xfrm>
          <a:custGeom>
            <a:avLst/>
            <a:gdLst/>
            <a:ahLst/>
            <a:cxnLst/>
            <a:rect r="r" b="b" t="t" l="l"/>
            <a:pathLst>
              <a:path h="628983" w="2888663">
                <a:moveTo>
                  <a:pt x="0" y="0"/>
                </a:moveTo>
                <a:lnTo>
                  <a:pt x="2888663" y="0"/>
                </a:lnTo>
                <a:lnTo>
                  <a:pt x="2888663" y="628983"/>
                </a:lnTo>
                <a:lnTo>
                  <a:pt x="0" y="628983"/>
                </a:lnTo>
                <a:lnTo>
                  <a:pt x="0" y="0"/>
                </a:lnTo>
                <a:close/>
              </a:path>
            </a:pathLst>
          </a:custGeom>
          <a:blipFill>
            <a:blip r:embed="rId4"/>
            <a:stretch>
              <a:fillRect l="0" t="0" r="0" b="0"/>
            </a:stretch>
          </a:blipFill>
        </p:spPr>
      </p:sp>
      <p:sp>
        <p:nvSpPr>
          <p:cNvPr name="Freeform 9" id="9"/>
          <p:cNvSpPr/>
          <p:nvPr/>
        </p:nvSpPr>
        <p:spPr>
          <a:xfrm flipH="false" flipV="false" rot="0">
            <a:off x="645394" y="6526203"/>
            <a:ext cx="2888663" cy="597654"/>
          </a:xfrm>
          <a:custGeom>
            <a:avLst/>
            <a:gdLst/>
            <a:ahLst/>
            <a:cxnLst/>
            <a:rect r="r" b="b" t="t" l="l"/>
            <a:pathLst>
              <a:path h="597654" w="2888663">
                <a:moveTo>
                  <a:pt x="0" y="0"/>
                </a:moveTo>
                <a:lnTo>
                  <a:pt x="2888663" y="0"/>
                </a:lnTo>
                <a:lnTo>
                  <a:pt x="2888663" y="597654"/>
                </a:lnTo>
                <a:lnTo>
                  <a:pt x="0" y="597654"/>
                </a:lnTo>
                <a:lnTo>
                  <a:pt x="0" y="0"/>
                </a:lnTo>
                <a:close/>
              </a:path>
            </a:pathLst>
          </a:custGeom>
          <a:blipFill>
            <a:blip r:embed="rId5"/>
            <a:stretch>
              <a:fillRect l="0" t="0" r="0" b="0"/>
            </a:stretch>
          </a:blipFill>
        </p:spPr>
      </p:sp>
      <p:sp>
        <p:nvSpPr>
          <p:cNvPr name="Freeform 10" id="10"/>
          <p:cNvSpPr/>
          <p:nvPr/>
        </p:nvSpPr>
        <p:spPr>
          <a:xfrm flipH="false" flipV="false" rot="0">
            <a:off x="9535915" y="1977540"/>
            <a:ext cx="8255065" cy="1877506"/>
          </a:xfrm>
          <a:custGeom>
            <a:avLst/>
            <a:gdLst/>
            <a:ahLst/>
            <a:cxnLst/>
            <a:rect r="r" b="b" t="t" l="l"/>
            <a:pathLst>
              <a:path h="1877506" w="8255065">
                <a:moveTo>
                  <a:pt x="0" y="0"/>
                </a:moveTo>
                <a:lnTo>
                  <a:pt x="8255065" y="0"/>
                </a:lnTo>
                <a:lnTo>
                  <a:pt x="8255065" y="1877505"/>
                </a:lnTo>
                <a:lnTo>
                  <a:pt x="0" y="1877505"/>
                </a:lnTo>
                <a:lnTo>
                  <a:pt x="0" y="0"/>
                </a:lnTo>
                <a:close/>
              </a:path>
            </a:pathLst>
          </a:custGeom>
          <a:blipFill>
            <a:blip r:embed="rId6"/>
            <a:stretch>
              <a:fillRect l="0" t="0" r="0" b="0"/>
            </a:stretch>
          </a:blipFill>
        </p:spPr>
      </p:sp>
      <p:sp>
        <p:nvSpPr>
          <p:cNvPr name="Freeform 11" id="11"/>
          <p:cNvSpPr/>
          <p:nvPr/>
        </p:nvSpPr>
        <p:spPr>
          <a:xfrm flipH="false" flipV="false" rot="0">
            <a:off x="9535915" y="3943298"/>
            <a:ext cx="1923439" cy="1234380"/>
          </a:xfrm>
          <a:custGeom>
            <a:avLst/>
            <a:gdLst/>
            <a:ahLst/>
            <a:cxnLst/>
            <a:rect r="r" b="b" t="t" l="l"/>
            <a:pathLst>
              <a:path h="1234380" w="1923439">
                <a:moveTo>
                  <a:pt x="0" y="0"/>
                </a:moveTo>
                <a:lnTo>
                  <a:pt x="1923439" y="0"/>
                </a:lnTo>
                <a:lnTo>
                  <a:pt x="1923439" y="1234380"/>
                </a:lnTo>
                <a:lnTo>
                  <a:pt x="0" y="1234380"/>
                </a:lnTo>
                <a:lnTo>
                  <a:pt x="0" y="0"/>
                </a:lnTo>
                <a:close/>
              </a:path>
            </a:pathLst>
          </a:custGeom>
          <a:blipFill>
            <a:blip r:embed="rId7"/>
            <a:stretch>
              <a:fillRect l="-3900" t="0" r="0" b="-987"/>
            </a:stretch>
          </a:blipFill>
        </p:spPr>
      </p:sp>
      <p:sp>
        <p:nvSpPr>
          <p:cNvPr name="Freeform 12" id="12"/>
          <p:cNvSpPr/>
          <p:nvPr/>
        </p:nvSpPr>
        <p:spPr>
          <a:xfrm flipH="false" flipV="false" rot="0">
            <a:off x="11830829" y="4070536"/>
            <a:ext cx="1738942" cy="1072964"/>
          </a:xfrm>
          <a:custGeom>
            <a:avLst/>
            <a:gdLst/>
            <a:ahLst/>
            <a:cxnLst/>
            <a:rect r="r" b="b" t="t" l="l"/>
            <a:pathLst>
              <a:path h="1072964" w="1738942">
                <a:moveTo>
                  <a:pt x="0" y="0"/>
                </a:moveTo>
                <a:lnTo>
                  <a:pt x="1738942" y="0"/>
                </a:lnTo>
                <a:lnTo>
                  <a:pt x="1738942" y="1072964"/>
                </a:lnTo>
                <a:lnTo>
                  <a:pt x="0" y="1072964"/>
                </a:lnTo>
                <a:lnTo>
                  <a:pt x="0" y="0"/>
                </a:lnTo>
                <a:close/>
              </a:path>
            </a:pathLst>
          </a:custGeom>
          <a:blipFill>
            <a:blip r:embed="rId8"/>
            <a:stretch>
              <a:fillRect l="0" t="0" r="0" b="0"/>
            </a:stretch>
          </a:blipFill>
        </p:spPr>
      </p:sp>
      <p:sp>
        <p:nvSpPr>
          <p:cNvPr name="Freeform 13" id="13"/>
          <p:cNvSpPr/>
          <p:nvPr/>
        </p:nvSpPr>
        <p:spPr>
          <a:xfrm flipH="false" flipV="false" rot="0">
            <a:off x="9535915" y="6250153"/>
            <a:ext cx="8680670" cy="873704"/>
          </a:xfrm>
          <a:custGeom>
            <a:avLst/>
            <a:gdLst/>
            <a:ahLst/>
            <a:cxnLst/>
            <a:rect r="r" b="b" t="t" l="l"/>
            <a:pathLst>
              <a:path h="873704" w="8680670">
                <a:moveTo>
                  <a:pt x="0" y="0"/>
                </a:moveTo>
                <a:lnTo>
                  <a:pt x="8680670" y="0"/>
                </a:lnTo>
                <a:lnTo>
                  <a:pt x="8680670" y="873704"/>
                </a:lnTo>
                <a:lnTo>
                  <a:pt x="0" y="873704"/>
                </a:lnTo>
                <a:lnTo>
                  <a:pt x="0" y="0"/>
                </a:lnTo>
                <a:close/>
              </a:path>
            </a:pathLst>
          </a:custGeom>
          <a:blipFill>
            <a:blip r:embed="rId9"/>
            <a:stretch>
              <a:fillRect l="0" t="0" r="0" b="0"/>
            </a:stretch>
          </a:blipFill>
        </p:spPr>
      </p:sp>
      <p:sp>
        <p:nvSpPr>
          <p:cNvPr name="Freeform 14" id="14"/>
          <p:cNvSpPr/>
          <p:nvPr/>
        </p:nvSpPr>
        <p:spPr>
          <a:xfrm flipH="false" flipV="false" rot="0">
            <a:off x="9535915" y="7342932"/>
            <a:ext cx="3294467" cy="939077"/>
          </a:xfrm>
          <a:custGeom>
            <a:avLst/>
            <a:gdLst/>
            <a:ahLst/>
            <a:cxnLst/>
            <a:rect r="r" b="b" t="t" l="l"/>
            <a:pathLst>
              <a:path h="939077" w="3294467">
                <a:moveTo>
                  <a:pt x="0" y="0"/>
                </a:moveTo>
                <a:lnTo>
                  <a:pt x="3294467" y="0"/>
                </a:lnTo>
                <a:lnTo>
                  <a:pt x="3294467" y="939077"/>
                </a:lnTo>
                <a:lnTo>
                  <a:pt x="0" y="939077"/>
                </a:lnTo>
                <a:lnTo>
                  <a:pt x="0" y="0"/>
                </a:lnTo>
                <a:close/>
              </a:path>
            </a:pathLst>
          </a:custGeom>
          <a:blipFill>
            <a:blip r:embed="rId10"/>
            <a:stretch>
              <a:fillRect l="0" t="0" r="0" b="0"/>
            </a:stretch>
          </a:blipFill>
        </p:spPr>
      </p:sp>
      <p:sp>
        <p:nvSpPr>
          <p:cNvPr name="Freeform 15" id="15"/>
          <p:cNvSpPr/>
          <p:nvPr/>
        </p:nvSpPr>
        <p:spPr>
          <a:xfrm flipH="false" flipV="false" rot="0">
            <a:off x="9535915" y="8501084"/>
            <a:ext cx="3294467" cy="939003"/>
          </a:xfrm>
          <a:custGeom>
            <a:avLst/>
            <a:gdLst/>
            <a:ahLst/>
            <a:cxnLst/>
            <a:rect r="r" b="b" t="t" l="l"/>
            <a:pathLst>
              <a:path h="939003" w="3294467">
                <a:moveTo>
                  <a:pt x="0" y="0"/>
                </a:moveTo>
                <a:lnTo>
                  <a:pt x="3294467" y="0"/>
                </a:lnTo>
                <a:lnTo>
                  <a:pt x="3294467" y="939003"/>
                </a:lnTo>
                <a:lnTo>
                  <a:pt x="0" y="939003"/>
                </a:lnTo>
                <a:lnTo>
                  <a:pt x="0" y="0"/>
                </a:lnTo>
                <a:close/>
              </a:path>
            </a:pathLst>
          </a:custGeom>
          <a:blipFill>
            <a:blip r:embed="rId11"/>
            <a:stretch>
              <a:fillRect l="0" t="0" r="0" b="0"/>
            </a:stretch>
          </a:blipFill>
        </p:spPr>
      </p:sp>
      <p:sp>
        <p:nvSpPr>
          <p:cNvPr name="TextBox 16" id="16"/>
          <p:cNvSpPr txBox="true"/>
          <p:nvPr/>
        </p:nvSpPr>
        <p:spPr>
          <a:xfrm rot="0">
            <a:off x="415860" y="3234056"/>
            <a:ext cx="8174356" cy="489545"/>
          </a:xfrm>
          <a:prstGeom prst="rect">
            <a:avLst/>
          </a:prstGeom>
        </p:spPr>
        <p:txBody>
          <a:bodyPr anchor="t" rtlCol="false" tIns="0" lIns="0" bIns="0" rIns="0">
            <a:spAutoFit/>
          </a:bodyPr>
          <a:lstStyle/>
          <a:p>
            <a:pPr algn="l" marL="615655" indent="-307828" lvl="1">
              <a:lnSpc>
                <a:spcPts val="3992"/>
              </a:lnSpc>
              <a:buFont typeface="Arial"/>
              <a:buChar char="•"/>
            </a:pPr>
            <a:r>
              <a:rPr lang="en-US" sz="2851" spc="313">
                <a:solidFill>
                  <a:srgbClr val="061313"/>
                </a:solidFill>
                <a:latin typeface="Libre Baskerville"/>
                <a:ea typeface="Libre Baskerville"/>
                <a:cs typeface="Libre Baskerville"/>
                <a:sym typeface="Libre Baskerville"/>
              </a:rPr>
              <a:t>Let:</a:t>
            </a:r>
          </a:p>
        </p:txBody>
      </p:sp>
      <p:sp>
        <p:nvSpPr>
          <p:cNvPr name="TextBox 17" id="17"/>
          <p:cNvSpPr txBox="true"/>
          <p:nvPr/>
        </p:nvSpPr>
        <p:spPr>
          <a:xfrm rot="0">
            <a:off x="3534057"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Design </a:t>
            </a:r>
          </a:p>
        </p:txBody>
      </p:sp>
      <p:sp>
        <p:nvSpPr>
          <p:cNvPr name="TextBox 18" id="18"/>
          <p:cNvSpPr txBox="true"/>
          <p:nvPr/>
        </p:nvSpPr>
        <p:spPr>
          <a:xfrm rot="0">
            <a:off x="508131" y="1828641"/>
            <a:ext cx="7510521" cy="495301"/>
          </a:xfrm>
          <a:prstGeom prst="rect">
            <a:avLst/>
          </a:prstGeom>
        </p:spPr>
        <p:txBody>
          <a:bodyPr anchor="t" rtlCol="false" tIns="0" lIns="0" bIns="0" rIns="0">
            <a:spAutoFit/>
          </a:bodyPr>
          <a:lstStyle/>
          <a:p>
            <a:pPr algn="ctr">
              <a:lnSpc>
                <a:spcPts val="4199"/>
              </a:lnSpc>
              <a:spcBef>
                <a:spcPct val="0"/>
              </a:spcBef>
            </a:pPr>
            <a:r>
              <a:rPr lang="en-US" b="true" sz="2999" spc="329" u="sng">
                <a:solidFill>
                  <a:srgbClr val="061313"/>
                </a:solidFill>
                <a:latin typeface="Libre Baskerville Bold"/>
                <a:ea typeface="Libre Baskerville Bold"/>
                <a:cs typeface="Libre Baskerville Bold"/>
                <a:sym typeface="Libre Baskerville Bold"/>
              </a:rPr>
              <a:t>CIRCUIT CALCULATIONS</a:t>
            </a:r>
          </a:p>
        </p:txBody>
      </p:sp>
      <p:sp>
        <p:nvSpPr>
          <p:cNvPr name="TextBox 19" id="19"/>
          <p:cNvSpPr txBox="true"/>
          <p:nvPr/>
        </p:nvSpPr>
        <p:spPr>
          <a:xfrm rot="0">
            <a:off x="415860" y="2628900"/>
            <a:ext cx="5029438" cy="481330"/>
          </a:xfrm>
          <a:prstGeom prst="rect">
            <a:avLst/>
          </a:prstGeom>
        </p:spPr>
        <p:txBody>
          <a:bodyPr anchor="t" rtlCol="false" tIns="0" lIns="0" bIns="0" rIns="0">
            <a:spAutoFit/>
          </a:bodyPr>
          <a:lstStyle/>
          <a:p>
            <a:pPr algn="l" marL="604516" indent="-302258" lvl="1">
              <a:lnSpc>
                <a:spcPts val="3919"/>
              </a:lnSpc>
              <a:spcBef>
                <a:spcPct val="0"/>
              </a:spcBef>
              <a:buAutoNum type="arabicPeriod" startAt="1"/>
            </a:pPr>
            <a:r>
              <a:rPr lang="en-US" sz="2799" spc="307">
                <a:solidFill>
                  <a:srgbClr val="061313"/>
                </a:solidFill>
                <a:latin typeface="Libre Baskerville"/>
                <a:ea typeface="Libre Baskerville"/>
                <a:cs typeface="Libre Baskerville"/>
                <a:sym typeface="Libre Baskerville"/>
              </a:rPr>
              <a:t>Designing PID gains</a:t>
            </a:r>
          </a:p>
        </p:txBody>
      </p:sp>
      <p:sp>
        <p:nvSpPr>
          <p:cNvPr name="TextBox 20" id="20"/>
          <p:cNvSpPr txBox="true"/>
          <p:nvPr/>
        </p:nvSpPr>
        <p:spPr>
          <a:xfrm rot="0">
            <a:off x="508131" y="7428657"/>
            <a:ext cx="8174356" cy="2678390"/>
          </a:xfrm>
          <a:prstGeom prst="rect">
            <a:avLst/>
          </a:prstGeom>
        </p:spPr>
        <p:txBody>
          <a:bodyPr anchor="t" rtlCol="false" tIns="0" lIns="0" bIns="0" rIns="0">
            <a:spAutoFit/>
          </a:bodyPr>
          <a:lstStyle/>
          <a:p>
            <a:pPr algn="l" marL="550887" indent="-275443" lvl="1">
              <a:lnSpc>
                <a:spcPts val="3572"/>
              </a:lnSpc>
              <a:buFont typeface="Arial"/>
              <a:buChar char="•"/>
            </a:pPr>
            <a:r>
              <a:rPr lang="en-US" sz="2551" spc="280">
                <a:solidFill>
                  <a:srgbClr val="061313"/>
                </a:solidFill>
                <a:latin typeface="Libre Baskerville"/>
                <a:ea typeface="Libre Baskerville"/>
                <a:cs typeface="Libre Baskerville"/>
                <a:sym typeface="Libre Baskerville"/>
              </a:rPr>
              <a:t>where a3, a2, a1 and a0 are the coefficents of the characteristic polynomial.</a:t>
            </a:r>
          </a:p>
          <a:p>
            <a:pPr algn="l">
              <a:lnSpc>
                <a:spcPts val="3572"/>
              </a:lnSpc>
            </a:pPr>
          </a:p>
          <a:p>
            <a:pPr algn="l" marL="550887" indent="-275443" lvl="1">
              <a:lnSpc>
                <a:spcPts val="3572"/>
              </a:lnSpc>
              <a:buFont typeface="Arial"/>
              <a:buChar char="•"/>
            </a:pPr>
            <a:r>
              <a:rPr lang="en-US" sz="2551" spc="280">
                <a:solidFill>
                  <a:srgbClr val="061313"/>
                </a:solidFill>
                <a:latin typeface="Libre Baskerville"/>
                <a:ea typeface="Libre Baskerville"/>
                <a:cs typeface="Libre Baskerville"/>
                <a:sym typeface="Libre Baskerville"/>
              </a:rPr>
              <a:t>The coefficient matching method can be used to find a3, a2, a1, and a0</a:t>
            </a:r>
          </a:p>
        </p:txBody>
      </p:sp>
      <p:sp>
        <p:nvSpPr>
          <p:cNvPr name="TextBox 21" id="21"/>
          <p:cNvSpPr txBox="true"/>
          <p:nvPr/>
        </p:nvSpPr>
        <p:spPr>
          <a:xfrm rot="0">
            <a:off x="9354942" y="5350485"/>
            <a:ext cx="8600837" cy="455295"/>
          </a:xfrm>
          <a:prstGeom prst="rect">
            <a:avLst/>
          </a:prstGeom>
        </p:spPr>
        <p:txBody>
          <a:bodyPr anchor="t" rtlCol="false" tIns="0" lIns="0" bIns="0" rIns="0">
            <a:spAutoFit/>
          </a:bodyPr>
          <a:lstStyle/>
          <a:p>
            <a:pPr algn="l" marL="582927" indent="-291463" lvl="1">
              <a:lnSpc>
                <a:spcPts val="3779"/>
              </a:lnSpc>
              <a:buFont typeface="Arial"/>
              <a:buChar char="•"/>
            </a:pPr>
            <a:r>
              <a:rPr lang="en-US" sz="2699" spc="296">
                <a:solidFill>
                  <a:srgbClr val="061313"/>
                </a:solidFill>
                <a:latin typeface="Libre Baskerville"/>
                <a:ea typeface="Libre Baskerville"/>
                <a:cs typeface="Libre Baskerville"/>
                <a:sym typeface="Libre Baskerville"/>
              </a:rPr>
              <a:t>Substituting the values of coefficients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3534057"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Design </a:t>
            </a:r>
          </a:p>
        </p:txBody>
      </p:sp>
      <p:sp>
        <p:nvSpPr>
          <p:cNvPr name="TextBox 6" id="6"/>
          <p:cNvSpPr txBox="true"/>
          <p:nvPr/>
        </p:nvSpPr>
        <p:spPr>
          <a:xfrm rot="0">
            <a:off x="508131" y="1828641"/>
            <a:ext cx="7510521" cy="495301"/>
          </a:xfrm>
          <a:prstGeom prst="rect">
            <a:avLst/>
          </a:prstGeom>
        </p:spPr>
        <p:txBody>
          <a:bodyPr anchor="t" rtlCol="false" tIns="0" lIns="0" bIns="0" rIns="0">
            <a:spAutoFit/>
          </a:bodyPr>
          <a:lstStyle/>
          <a:p>
            <a:pPr algn="ctr">
              <a:lnSpc>
                <a:spcPts val="4199"/>
              </a:lnSpc>
              <a:spcBef>
                <a:spcPct val="0"/>
              </a:spcBef>
            </a:pPr>
            <a:r>
              <a:rPr lang="en-US" b="true" sz="2999" spc="329" u="sng">
                <a:solidFill>
                  <a:srgbClr val="061313"/>
                </a:solidFill>
                <a:latin typeface="Libre Baskerville Bold"/>
                <a:ea typeface="Libre Baskerville Bold"/>
                <a:cs typeface="Libre Baskerville Bold"/>
                <a:sym typeface="Libre Baskerville Bold"/>
              </a:rPr>
              <a:t>COMPONENTS REQUIRED</a:t>
            </a:r>
          </a:p>
        </p:txBody>
      </p:sp>
      <p:sp>
        <p:nvSpPr>
          <p:cNvPr name="TextBox 7" id="7"/>
          <p:cNvSpPr txBox="true"/>
          <p:nvPr/>
        </p:nvSpPr>
        <p:spPr>
          <a:xfrm rot="0">
            <a:off x="508131" y="2619217"/>
            <a:ext cx="11402149" cy="6710630"/>
          </a:xfrm>
          <a:prstGeom prst="rect">
            <a:avLst/>
          </a:prstGeom>
        </p:spPr>
        <p:txBody>
          <a:bodyPr anchor="t" rtlCol="false" tIns="0" lIns="0" bIns="0" rIns="0">
            <a:spAutoFit/>
          </a:bodyPr>
          <a:lstStyle/>
          <a:p>
            <a:pPr algn="l">
              <a:lnSpc>
                <a:spcPts val="4860"/>
              </a:lnSpc>
            </a:pPr>
            <a:r>
              <a:rPr lang="en-US" sz="3471" spc="381">
                <a:solidFill>
                  <a:srgbClr val="061313"/>
                </a:solidFill>
                <a:latin typeface="Libre Baskerville"/>
                <a:ea typeface="Libre Baskerville"/>
                <a:cs typeface="Libre Baskerville"/>
                <a:sym typeface="Libre Baskerville"/>
              </a:rPr>
              <a:t>1. Capacitor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2. Resist</a:t>
            </a:r>
            <a:r>
              <a:rPr lang="en-US" sz="3471" spc="381">
                <a:solidFill>
                  <a:srgbClr val="061313"/>
                </a:solidFill>
                <a:latin typeface="Libre Baskerville"/>
                <a:ea typeface="Libre Baskerville"/>
                <a:cs typeface="Libre Baskerville"/>
                <a:sym typeface="Libre Baskerville"/>
              </a:rPr>
              <a:t>or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3. TL064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4. Brushed DC Motor with Gear</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5. Bread Board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6. Connecting Wires As required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7. DC Power Supply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8. Batteries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9. Potentiometer Bourns PTD904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10. Multimeter </a:t>
            </a:r>
          </a:p>
          <a:p>
            <a:pPr algn="l">
              <a:lnSpc>
                <a:spcPts val="4860"/>
              </a:lnSpc>
              <a:spcBef>
                <a:spcPct val="0"/>
              </a:spcBef>
            </a:pPr>
            <a:r>
              <a:rPr lang="en-US" sz="3471" spc="381">
                <a:solidFill>
                  <a:srgbClr val="061313"/>
                </a:solidFill>
                <a:latin typeface="Libre Baskerville"/>
                <a:ea typeface="Libre Baskerville"/>
                <a:cs typeface="Libre Baskerville"/>
                <a:sym typeface="Libre Baskerville"/>
              </a:rPr>
              <a:t>11. DSO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8837577" y="3221979"/>
            <a:ext cx="9231753" cy="4913429"/>
          </a:xfrm>
          <a:custGeom>
            <a:avLst/>
            <a:gdLst/>
            <a:ahLst/>
            <a:cxnLst/>
            <a:rect r="r" b="b" t="t" l="l"/>
            <a:pathLst>
              <a:path h="4913429" w="9231753">
                <a:moveTo>
                  <a:pt x="0" y="0"/>
                </a:moveTo>
                <a:lnTo>
                  <a:pt x="9231753" y="0"/>
                </a:lnTo>
                <a:lnTo>
                  <a:pt x="9231753" y="4913429"/>
                </a:lnTo>
                <a:lnTo>
                  <a:pt x="0" y="4913429"/>
                </a:lnTo>
                <a:lnTo>
                  <a:pt x="0" y="0"/>
                </a:lnTo>
                <a:close/>
              </a:path>
            </a:pathLst>
          </a:custGeom>
          <a:blipFill>
            <a:blip r:embed="rId2"/>
            <a:stretch>
              <a:fillRect l="0" t="0" r="0" b="0"/>
            </a:stretch>
          </a:blipFill>
        </p:spPr>
      </p:sp>
      <p:sp>
        <p:nvSpPr>
          <p:cNvPr name="Freeform 6" id="6"/>
          <p:cNvSpPr/>
          <p:nvPr/>
        </p:nvSpPr>
        <p:spPr>
          <a:xfrm flipH="false" flipV="false" rot="0">
            <a:off x="326694" y="2919922"/>
            <a:ext cx="8249877" cy="5544190"/>
          </a:xfrm>
          <a:custGeom>
            <a:avLst/>
            <a:gdLst/>
            <a:ahLst/>
            <a:cxnLst/>
            <a:rect r="r" b="b" t="t" l="l"/>
            <a:pathLst>
              <a:path h="5544190" w="8249877">
                <a:moveTo>
                  <a:pt x="0" y="0"/>
                </a:moveTo>
                <a:lnTo>
                  <a:pt x="8249878" y="0"/>
                </a:lnTo>
                <a:lnTo>
                  <a:pt x="8249878" y="5544190"/>
                </a:lnTo>
                <a:lnTo>
                  <a:pt x="0" y="5544190"/>
                </a:lnTo>
                <a:lnTo>
                  <a:pt x="0" y="0"/>
                </a:lnTo>
                <a:close/>
              </a:path>
            </a:pathLst>
          </a:custGeom>
          <a:blipFill>
            <a:blip r:embed="rId3"/>
            <a:stretch>
              <a:fillRect l="0" t="-778" r="0" b="-778"/>
            </a:stretch>
          </a:blipFill>
        </p:spPr>
      </p:sp>
      <p:sp>
        <p:nvSpPr>
          <p:cNvPr name="TextBox 7" id="7"/>
          <p:cNvSpPr txBox="true"/>
          <p:nvPr/>
        </p:nvSpPr>
        <p:spPr>
          <a:xfrm rot="0">
            <a:off x="3534057" y="428942"/>
            <a:ext cx="10607040" cy="946149"/>
          </a:xfrm>
          <a:prstGeom prst="rect">
            <a:avLst/>
          </a:prstGeom>
        </p:spPr>
        <p:txBody>
          <a:bodyPr anchor="t" rtlCol="false" tIns="0" lIns="0" bIns="0" rIns="0">
            <a:spAutoFit/>
          </a:bodyPr>
          <a:lstStyle/>
          <a:p>
            <a:pPr algn="l">
              <a:lnSpc>
                <a:spcPts val="7700"/>
              </a:lnSpc>
              <a:spcBef>
                <a:spcPct val="0"/>
              </a:spcBef>
            </a:pPr>
            <a:r>
              <a:rPr lang="en-US" sz="5500" b="true">
                <a:solidFill>
                  <a:srgbClr val="061313"/>
                </a:solidFill>
                <a:latin typeface="Libre Baskerville Bold"/>
                <a:ea typeface="Libre Baskerville Bold"/>
                <a:cs typeface="Libre Baskerville Bold"/>
                <a:sym typeface="Libre Baskerville Bold"/>
              </a:rPr>
              <a:t>Analysis: Expected Outcome</a:t>
            </a:r>
          </a:p>
        </p:txBody>
      </p:sp>
      <p:sp>
        <p:nvSpPr>
          <p:cNvPr name="TextBox 8" id="8"/>
          <p:cNvSpPr txBox="true"/>
          <p:nvPr/>
        </p:nvSpPr>
        <p:spPr>
          <a:xfrm rot="0">
            <a:off x="11447000" y="2688160"/>
            <a:ext cx="4031956" cy="415899"/>
          </a:xfrm>
          <a:prstGeom prst="rect">
            <a:avLst/>
          </a:prstGeom>
        </p:spPr>
        <p:txBody>
          <a:bodyPr anchor="t" rtlCol="false" tIns="0" lIns="0" bIns="0" rIns="0">
            <a:spAutoFit/>
          </a:bodyPr>
          <a:lstStyle/>
          <a:p>
            <a:pPr algn="ctr">
              <a:lnSpc>
                <a:spcPts val="3403"/>
              </a:lnSpc>
              <a:spcBef>
                <a:spcPct val="0"/>
              </a:spcBef>
            </a:pPr>
            <a:r>
              <a:rPr lang="en-US" sz="2430" spc="267">
                <a:solidFill>
                  <a:srgbClr val="061313"/>
                </a:solidFill>
                <a:latin typeface="Libre Baskerville"/>
                <a:ea typeface="Libre Baskerville"/>
                <a:cs typeface="Libre Baskerville"/>
                <a:sym typeface="Libre Baskerville"/>
              </a:rPr>
              <a:t>Unity Plant With PID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3EC"/>
        </a:solidFill>
      </p:bgPr>
    </p:bg>
    <p:spTree>
      <p:nvGrpSpPr>
        <p:cNvPr id="1" name=""/>
        <p:cNvGrpSpPr/>
        <p:nvPr/>
      </p:nvGrpSpPr>
      <p:grpSpPr>
        <a:xfrm>
          <a:off x="0" y="0"/>
          <a:ext cx="0" cy="0"/>
          <a:chOff x="0" y="0"/>
          <a:chExt cx="0" cy="0"/>
        </a:xfrm>
      </p:grpSpPr>
      <p:sp>
        <p:nvSpPr>
          <p:cNvPr name="Freeform 2" id="2"/>
          <p:cNvSpPr/>
          <p:nvPr/>
        </p:nvSpPr>
        <p:spPr>
          <a:xfrm flipH="false" flipV="false" rot="0">
            <a:off x="174576" y="3014943"/>
            <a:ext cx="8813558" cy="4827163"/>
          </a:xfrm>
          <a:custGeom>
            <a:avLst/>
            <a:gdLst/>
            <a:ahLst/>
            <a:cxnLst/>
            <a:rect r="r" b="b" t="t" l="l"/>
            <a:pathLst>
              <a:path h="4827163" w="8813558">
                <a:moveTo>
                  <a:pt x="0" y="0"/>
                </a:moveTo>
                <a:lnTo>
                  <a:pt x="8813559" y="0"/>
                </a:lnTo>
                <a:lnTo>
                  <a:pt x="8813559" y="4827163"/>
                </a:lnTo>
                <a:lnTo>
                  <a:pt x="0" y="4827163"/>
                </a:lnTo>
                <a:lnTo>
                  <a:pt x="0" y="0"/>
                </a:lnTo>
                <a:close/>
              </a:path>
            </a:pathLst>
          </a:custGeom>
          <a:blipFill>
            <a:blip r:embed="rId2"/>
            <a:stretch>
              <a:fillRect l="0" t="0" r="0" b="0"/>
            </a:stretch>
          </a:blipFill>
        </p:spPr>
      </p:sp>
      <p:sp>
        <p:nvSpPr>
          <p:cNvPr name="Freeform 3" id="3"/>
          <p:cNvSpPr/>
          <p:nvPr/>
        </p:nvSpPr>
        <p:spPr>
          <a:xfrm flipH="false" flipV="false" rot="0">
            <a:off x="9144000" y="3014943"/>
            <a:ext cx="8930617" cy="4827163"/>
          </a:xfrm>
          <a:custGeom>
            <a:avLst/>
            <a:gdLst/>
            <a:ahLst/>
            <a:cxnLst/>
            <a:rect r="r" b="b" t="t" l="l"/>
            <a:pathLst>
              <a:path h="4827163" w="8930617">
                <a:moveTo>
                  <a:pt x="0" y="0"/>
                </a:moveTo>
                <a:lnTo>
                  <a:pt x="8930617" y="0"/>
                </a:lnTo>
                <a:lnTo>
                  <a:pt x="8930617" y="4827163"/>
                </a:lnTo>
                <a:lnTo>
                  <a:pt x="0" y="4827163"/>
                </a:lnTo>
                <a:lnTo>
                  <a:pt x="0" y="0"/>
                </a:lnTo>
                <a:close/>
              </a:path>
            </a:pathLst>
          </a:custGeom>
          <a:blipFill>
            <a:blip r:embed="rId3"/>
            <a:stretch>
              <a:fillRect l="0" t="-580" r="0" b="-580"/>
            </a:stretch>
          </a:blipFill>
        </p:spPr>
      </p:sp>
      <p:sp>
        <p:nvSpPr>
          <p:cNvPr name="TextBox 4" id="4"/>
          <p:cNvSpPr txBox="true"/>
          <p:nvPr/>
        </p:nvSpPr>
        <p:spPr>
          <a:xfrm rot="0">
            <a:off x="3148650" y="2300875"/>
            <a:ext cx="3469958" cy="438785"/>
          </a:xfrm>
          <a:prstGeom prst="rect">
            <a:avLst/>
          </a:prstGeom>
        </p:spPr>
        <p:txBody>
          <a:bodyPr anchor="t" rtlCol="false" tIns="0" lIns="0" bIns="0" rIns="0">
            <a:spAutoFit/>
          </a:bodyPr>
          <a:lstStyle/>
          <a:p>
            <a:pPr algn="ctr">
              <a:lnSpc>
                <a:spcPts val="3639"/>
              </a:lnSpc>
              <a:spcBef>
                <a:spcPct val="0"/>
              </a:spcBef>
            </a:pPr>
            <a:r>
              <a:rPr lang="en-US" sz="2599" spc="285">
                <a:solidFill>
                  <a:srgbClr val="000000"/>
                </a:solidFill>
                <a:latin typeface="Libre Baskerville"/>
                <a:ea typeface="Libre Baskerville"/>
                <a:cs typeface="Libre Baskerville"/>
                <a:sym typeface="Libre Baskerville"/>
              </a:rPr>
              <a:t>First Order Plant</a:t>
            </a:r>
          </a:p>
        </p:txBody>
      </p:sp>
      <p:sp>
        <p:nvSpPr>
          <p:cNvPr name="TextBox 5" id="5"/>
          <p:cNvSpPr txBox="true"/>
          <p:nvPr/>
        </p:nvSpPr>
        <p:spPr>
          <a:xfrm rot="0">
            <a:off x="11796483" y="2300875"/>
            <a:ext cx="3985617" cy="438785"/>
          </a:xfrm>
          <a:prstGeom prst="rect">
            <a:avLst/>
          </a:prstGeom>
        </p:spPr>
        <p:txBody>
          <a:bodyPr anchor="t" rtlCol="false" tIns="0" lIns="0" bIns="0" rIns="0">
            <a:spAutoFit/>
          </a:bodyPr>
          <a:lstStyle/>
          <a:p>
            <a:pPr algn="ctr">
              <a:lnSpc>
                <a:spcPts val="3639"/>
              </a:lnSpc>
              <a:spcBef>
                <a:spcPct val="0"/>
              </a:spcBef>
            </a:pPr>
            <a:r>
              <a:rPr lang="en-US" sz="2599" spc="285">
                <a:solidFill>
                  <a:srgbClr val="000000"/>
                </a:solidFill>
                <a:latin typeface="Libre Baskerville"/>
                <a:ea typeface="Libre Baskerville"/>
                <a:cs typeface="Libre Baskerville"/>
                <a:sym typeface="Libre Baskerville"/>
              </a:rPr>
              <a:t>Second Order Plant</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0" y="543242"/>
            <a:ext cx="3008659" cy="970915"/>
            <a:chOff x="0" y="0"/>
            <a:chExt cx="792404" cy="255714"/>
          </a:xfrm>
        </p:grpSpPr>
        <p:sp>
          <p:nvSpPr>
            <p:cNvPr name="Freeform 3" id="3"/>
            <p:cNvSpPr/>
            <p:nvPr/>
          </p:nvSpPr>
          <p:spPr>
            <a:xfrm flipH="false" flipV="false" rot="0">
              <a:off x="0" y="0"/>
              <a:ext cx="792404" cy="255714"/>
            </a:xfrm>
            <a:custGeom>
              <a:avLst/>
              <a:gdLst/>
              <a:ahLst/>
              <a:cxnLst/>
              <a:rect r="r" b="b" t="t" l="l"/>
              <a:pathLst>
                <a:path h="255714" w="792404">
                  <a:moveTo>
                    <a:pt x="0" y="0"/>
                  </a:moveTo>
                  <a:lnTo>
                    <a:pt x="792404" y="0"/>
                  </a:lnTo>
                  <a:lnTo>
                    <a:pt x="792404" y="255714"/>
                  </a:lnTo>
                  <a:lnTo>
                    <a:pt x="0" y="255714"/>
                  </a:lnTo>
                  <a:close/>
                </a:path>
              </a:pathLst>
            </a:custGeom>
            <a:solidFill>
              <a:srgbClr val="FFFFFF"/>
            </a:solidFill>
          </p:spPr>
        </p:sp>
        <p:sp>
          <p:nvSpPr>
            <p:cNvPr name="TextBox 4" id="4"/>
            <p:cNvSpPr txBox="true"/>
            <p:nvPr/>
          </p:nvSpPr>
          <p:spPr>
            <a:xfrm>
              <a:off x="0" y="-38100"/>
              <a:ext cx="792404" cy="293814"/>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670196" y="2048831"/>
            <a:ext cx="15253416" cy="7312229"/>
          </a:xfrm>
          <a:prstGeom prst="rect">
            <a:avLst/>
          </a:prstGeom>
        </p:spPr>
        <p:txBody>
          <a:bodyPr anchor="t" rtlCol="false" tIns="0" lIns="0" bIns="0" rIns="0">
            <a:spAutoFit/>
          </a:bodyPr>
          <a:lstStyle/>
          <a:p>
            <a:pPr algn="l">
              <a:lnSpc>
                <a:spcPts val="2448"/>
              </a:lnSpc>
            </a:pPr>
          </a:p>
          <a:p>
            <a:pPr algn="l" marL="377646" indent="-188823" lvl="1">
              <a:lnSpc>
                <a:spcPts val="2448"/>
              </a:lnSpc>
              <a:buFont typeface="Arial"/>
              <a:buChar char="•"/>
            </a:pPr>
            <a:r>
              <a:rPr lang="en-US" sz="1749">
                <a:solidFill>
                  <a:srgbClr val="000000"/>
                </a:solidFill>
                <a:latin typeface="Libre Baskerville"/>
                <a:ea typeface="Libre Baskerville"/>
                <a:cs typeface="Libre Baskerville"/>
                <a:sym typeface="Libre Baskerville"/>
              </a:rPr>
              <a:t>E. E. Theophilus, "Design of Analog PID Controller," Zenodo, 2018. [Online]. Available: https://zenodo.org/record/1467460       DOI: 10.5281/zenodo.1467460</a:t>
            </a:r>
          </a:p>
          <a:p>
            <a:pPr algn="l">
              <a:lnSpc>
                <a:spcPts val="2448"/>
              </a:lnSpc>
            </a:pPr>
          </a:p>
          <a:p>
            <a:pPr algn="l" marL="377646" indent="-188823" lvl="1">
              <a:lnSpc>
                <a:spcPts val="2448"/>
              </a:lnSpc>
              <a:buFont typeface="Arial"/>
              <a:buChar char="•"/>
            </a:pPr>
            <a:r>
              <a:rPr lang="en-US" sz="1749">
                <a:solidFill>
                  <a:srgbClr val="000000"/>
                </a:solidFill>
                <a:latin typeface="Libre Baskerville"/>
                <a:ea typeface="Libre Baskerville"/>
                <a:cs typeface="Libre Baskerville"/>
                <a:sym typeface="Libre Baskerville"/>
              </a:rPr>
              <a:t>N. V. Phuong, N. T. Tuyen, N. D. Khanh and N. N. Hung, "Designing a Robust Control System Based on Sliding Mode Control for Two-axis Gimbal Systems," 2024 Conference of Young Researchers in Electrical and Electronic Engineering (ElCon), Saint Petersburg, Russian Federation, 2024, pp. 455-458, doi: 10.1109/ElCon61730.2024.10468229. keywords: {Robust control;Vibrations;Simulation;Stability analysis;Mathematical models;Task analysis;Sliding mode control;two-axis gimbal;inertially stabilized platform;sliding mode control;self-driving transmission;adaptive},</a:t>
            </a:r>
          </a:p>
          <a:p>
            <a:pPr algn="l">
              <a:lnSpc>
                <a:spcPts val="2448"/>
              </a:lnSpc>
            </a:pPr>
          </a:p>
          <a:p>
            <a:pPr algn="l" marL="377646" indent="-188823" lvl="1">
              <a:lnSpc>
                <a:spcPts val="2448"/>
              </a:lnSpc>
              <a:buFont typeface="Arial"/>
              <a:buChar char="•"/>
            </a:pPr>
            <a:r>
              <a:rPr lang="en-US" sz="1749">
                <a:solidFill>
                  <a:srgbClr val="000000"/>
                </a:solidFill>
                <a:latin typeface="Libre Baskerville"/>
                <a:ea typeface="Libre Baskerville"/>
                <a:cs typeface="Libre Baskerville"/>
                <a:sym typeface="Libre Baskerville"/>
              </a:rPr>
              <a:t>N. Murata, H. Matsuno, A. Moran, and M. Hayase, “Control of inverted pendulum-wheeled cart systems using nonlinear observers,” SICE ’95. Proceedings of the 34th SICE Annual Conference. International Session Papers, pp. 1133–1136, 2025, doi: https://doi.org/10.1109/sice.1995.526643.</a:t>
            </a:r>
          </a:p>
          <a:p>
            <a:pPr algn="l">
              <a:lnSpc>
                <a:spcPts val="2448"/>
              </a:lnSpc>
            </a:pPr>
          </a:p>
          <a:p>
            <a:pPr algn="l" marL="377646" indent="-188823" lvl="1">
              <a:lnSpc>
                <a:spcPts val="2448"/>
              </a:lnSpc>
              <a:buFont typeface="Arial"/>
              <a:buChar char="•"/>
            </a:pPr>
            <a:r>
              <a:rPr lang="en-US" sz="1749">
                <a:solidFill>
                  <a:srgbClr val="000000"/>
                </a:solidFill>
                <a:latin typeface="Libre Baskerville"/>
                <a:ea typeface="Libre Baskerville"/>
                <a:cs typeface="Libre Baskerville"/>
                <a:sym typeface="Libre Baskerville"/>
              </a:rPr>
              <a:t>A. Godfrey, T. Hourigan, and G. M. Olaighin, “Pendulum analysis of an integrated accelerometer to assess its suitability to measure dynamic acceleration for gait applications,” Annual International Conference of the IEEE Engineering in Medicine and Biology Society. IEEE Engineering in Medicine and Biology Society. Annual International Conference, vol. 2007, pp. 4891–4, 2007, doi: https://doi.org/10.1109/IEMBS.2007.4353436.</a:t>
            </a:r>
          </a:p>
          <a:p>
            <a:pPr algn="l">
              <a:lnSpc>
                <a:spcPts val="2879"/>
              </a:lnSpc>
            </a:pPr>
          </a:p>
          <a:p>
            <a:pPr algn="l" marL="377646" indent="-188823" lvl="1">
              <a:lnSpc>
                <a:spcPts val="2448"/>
              </a:lnSpc>
              <a:spcBef>
                <a:spcPct val="0"/>
              </a:spcBef>
              <a:buFont typeface="Arial"/>
              <a:buChar char="•"/>
            </a:pPr>
            <a:r>
              <a:rPr lang="en-US" sz="1749">
                <a:solidFill>
                  <a:srgbClr val="000000"/>
                </a:solidFill>
                <a:latin typeface="Libre Baskerville"/>
                <a:ea typeface="Libre Baskerville"/>
                <a:cs typeface="Libre Baskerville"/>
                <a:sym typeface="Libre Baskerville"/>
              </a:rPr>
              <a:t>A. Suresh and Raju, “A Novel Method to Estimate Tilt Angle of a Body using a Pendulum,” arXiv.org, 2022. https://arxiv.org/abs/2202.00388 (accessed Jul. 28, 2025).</a:t>
            </a:r>
          </a:p>
          <a:p>
            <a:pPr algn="l">
              <a:lnSpc>
                <a:spcPts val="2448"/>
              </a:lnSpc>
              <a:spcBef>
                <a:spcPct val="0"/>
              </a:spcBef>
            </a:pPr>
          </a:p>
          <a:p>
            <a:pPr algn="l" marL="377646" indent="-188823" lvl="1">
              <a:lnSpc>
                <a:spcPts val="2448"/>
              </a:lnSpc>
              <a:spcBef>
                <a:spcPct val="0"/>
              </a:spcBef>
              <a:buFont typeface="Arial"/>
              <a:buChar char="•"/>
            </a:pPr>
            <a:r>
              <a:rPr lang="en-US" sz="1749">
                <a:solidFill>
                  <a:srgbClr val="000000"/>
                </a:solidFill>
                <a:latin typeface="Libre Baskerville"/>
                <a:ea typeface="Libre Baskerville"/>
                <a:cs typeface="Libre Baskerville"/>
                <a:sym typeface="Libre Baskerville"/>
              </a:rPr>
              <a:t>John, Dina &amp; Sehgal, Saket &amp; Biswas, Karabi. (2020). Hardware Implementation and Performance Study of Analog PID Controllers on DC Motor. Fractal and Fractional. 4. 34. 10.3390/fractalfract4030034. </a:t>
            </a:r>
          </a:p>
        </p:txBody>
      </p:sp>
      <p:sp>
        <p:nvSpPr>
          <p:cNvPr name="TextBox 6" id="6"/>
          <p:cNvSpPr txBox="true"/>
          <p:nvPr/>
        </p:nvSpPr>
        <p:spPr>
          <a:xfrm rot="0">
            <a:off x="3709156" y="428942"/>
            <a:ext cx="10607040"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61313"/>
                </a:solidFill>
                <a:latin typeface="Libre Baskerville Bold"/>
                <a:ea typeface="Libre Baskerville Bold"/>
                <a:cs typeface="Libre Baskerville Bold"/>
                <a:sym typeface="Libre Baskerville Bold"/>
              </a:rPr>
              <a:t>References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3EC"/>
        </a:solidFill>
      </p:bgPr>
    </p:bg>
    <p:spTree>
      <p:nvGrpSpPr>
        <p:cNvPr id="1" name=""/>
        <p:cNvGrpSpPr/>
        <p:nvPr/>
      </p:nvGrpSpPr>
      <p:grpSpPr>
        <a:xfrm>
          <a:off x="0" y="0"/>
          <a:ext cx="0" cy="0"/>
          <a:chOff x="0" y="0"/>
          <a:chExt cx="0" cy="0"/>
        </a:xfrm>
      </p:grpSpPr>
      <p:grpSp>
        <p:nvGrpSpPr>
          <p:cNvPr name="Group 2" id="2"/>
          <p:cNvGrpSpPr/>
          <p:nvPr/>
        </p:nvGrpSpPr>
        <p:grpSpPr>
          <a:xfrm rot="0">
            <a:off x="15608652" y="-793466"/>
            <a:ext cx="1650648" cy="3086100"/>
            <a:chOff x="0" y="0"/>
            <a:chExt cx="434738" cy="812800"/>
          </a:xfrm>
        </p:grpSpPr>
        <p:sp>
          <p:nvSpPr>
            <p:cNvPr name="Freeform 3" id="3"/>
            <p:cNvSpPr/>
            <p:nvPr/>
          </p:nvSpPr>
          <p:spPr>
            <a:xfrm flipH="false" flipV="false" rot="0">
              <a:off x="0" y="0"/>
              <a:ext cx="434738" cy="812800"/>
            </a:xfrm>
            <a:custGeom>
              <a:avLst/>
              <a:gdLst/>
              <a:ahLst/>
              <a:cxnLst/>
              <a:rect r="r" b="b" t="t" l="l"/>
              <a:pathLst>
                <a:path h="812800" w="434738">
                  <a:moveTo>
                    <a:pt x="0" y="0"/>
                  </a:moveTo>
                  <a:lnTo>
                    <a:pt x="434738" y="0"/>
                  </a:lnTo>
                  <a:lnTo>
                    <a:pt x="434738" y="812800"/>
                  </a:lnTo>
                  <a:lnTo>
                    <a:pt x="0" y="812800"/>
                  </a:lnTo>
                  <a:close/>
                </a:path>
              </a:pathLst>
            </a:custGeom>
            <a:solidFill>
              <a:srgbClr val="FFFFFF"/>
            </a:solidFill>
          </p:spPr>
        </p:sp>
        <p:sp>
          <p:nvSpPr>
            <p:cNvPr name="TextBox 4" id="4"/>
            <p:cNvSpPr txBox="true"/>
            <p:nvPr/>
          </p:nvSpPr>
          <p:spPr>
            <a:xfrm>
              <a:off x="0" y="-38100"/>
              <a:ext cx="434738" cy="850900"/>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3840480" y="3818624"/>
            <a:ext cx="10607040" cy="1783714"/>
          </a:xfrm>
          <a:prstGeom prst="rect">
            <a:avLst/>
          </a:prstGeom>
        </p:spPr>
        <p:txBody>
          <a:bodyPr anchor="t" rtlCol="false" tIns="0" lIns="0" bIns="0" rIns="0">
            <a:spAutoFit/>
          </a:bodyPr>
          <a:lstStyle/>
          <a:p>
            <a:pPr algn="l">
              <a:lnSpc>
                <a:spcPts val="14560"/>
              </a:lnSpc>
              <a:spcBef>
                <a:spcPct val="0"/>
              </a:spcBef>
            </a:pPr>
            <a:r>
              <a:rPr lang="en-US" sz="10400" b="true">
                <a:solidFill>
                  <a:srgbClr val="061313"/>
                </a:solidFill>
                <a:latin typeface="Libre Baskerville Bold"/>
                <a:ea typeface="Libre Baskerville Bold"/>
                <a:cs typeface="Libre Baskerville Bold"/>
                <a:sym typeface="Libre Baskerville Bold"/>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DAGyIDlfMoE</dc:identifier>
  <dcterms:modified xsi:type="dcterms:W3CDTF">2011-08-01T06:04:30Z</dcterms:modified>
  <cp:revision>1</cp:revision>
  <dc:title>Open Lab - Review 2</dc:title>
</cp:coreProperties>
</file>